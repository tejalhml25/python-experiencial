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14"/>
    <p:sldId id="264" r:id="rId15"/>
    <p:sldId id="265" r:id="rId16"/>
    <p:sldId id="266" r:id="rId17"/>
    <p:sldId id="267" r:id="rId18"/>
    <p:sldId id="268" r:id="rId19"/>
    <p:sldId id="261" r:id="rId7"/>
    <p:sldId id="269" r:id="rId20"/>
    <p:sldId id="270" r:id="rId21"/>
    <p:sldId id="271" r:id="rId22"/>
    <p:sldId id="262" r:id="rId8"/>
  </p:sldIdLst>
  <p:notesMasterIdLst>
    <p:notesMasterId r:id="rId9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  <Relationship Id="rId14" Type="http://schemas.openxmlformats.org/officeDocument/2006/relationships/slide" Target="slides/slide8.xml"/>
  <Relationship Id="rId15" Type="http://schemas.openxmlformats.org/officeDocument/2006/relationships/slide" Target="slides/slide9.xml"/>
  <Relationship Id="rId16" Type="http://schemas.openxmlformats.org/officeDocument/2006/relationships/slide" Target="slides/slide10.xml"/>
  <Relationship Id="rId17" Type="http://schemas.openxmlformats.org/officeDocument/2006/relationships/slide" Target="slides/slide11.xml"/>
  <Relationship Id="rId18" Type="http://schemas.openxmlformats.org/officeDocument/2006/relationships/slide" Target="slides/slide12.xml"/>
  <Relationship Id="rId19" Type="http://schemas.openxmlformats.org/officeDocument/2006/relationships/slide" Target="slides/slide13.xml"/>
  <Relationship Id="rId20" Type="http://schemas.openxmlformats.org/officeDocument/2006/relationships/slide" Target="slides/slide14.xml"/>
  <Relationship Id="rId21" Type="http://schemas.openxmlformats.org/officeDocument/2006/relationships/slide" Target="slides/slide15.xml"/>
  <Relationship Id="rId22" Type="http://schemas.openxmlformats.org/officeDocument/2006/relationships/slide" Target="slides/slide16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8869680" cy="6583680"/>
          </a:xfrm>
          <a:prstGeom prst="rect">
            <a:avLst/>
          </a:prstGeom>
          <a:ln w="19050">
            <a:solidFill>
              <a:srgbClr val="6E8C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8046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Experiential Learning</a:t>
            </a:r>
            <a:endParaRPr lang="en-US" sz="2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Assessment-II</a:t>
            </a:r>
            <a:endParaRPr lang="en-US" sz="2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</a:t>
            </a:r>
            <a:endParaRPr lang="en-US" sz="2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0000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 Employee Payroll Management System ”</a:t>
            </a:r>
            <a:endParaRPr lang="en-US" sz="2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0000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under the course</a:t>
            </a:r>
            <a:endParaRPr lang="en-US" sz="2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0000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Python Programming Language (N-PCCCM304P)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40080" y="3246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Presented By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35661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Tejal Rajkumar Hedau</a:t>
            </a:r>
            <a:endParaRPr lang="en-US" sz="1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(CM25060)</a:t>
            </a:r>
            <a:endParaRPr lang="en-US" sz="1400" dirty="0"/>
          </a:p>
        </p:txBody>
      </p:sp>
      <p:pic>
        <p:nvPicPr>
          <p:cNvPr id="6" name="Image 0" descr="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3108960"/>
            <a:ext cx="1188720" cy="1371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577840" y="324612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Under the Guidance</a:t>
            </a:r>
            <a:endParaRPr lang="en-US" sz="15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of</a:t>
            </a:r>
            <a:endParaRPr lang="en-US" sz="15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Mrs. Mayuri Getme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4892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000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Session: 2026-27 (ODD)</a:t>
            </a:r>
            <a:endParaRPr lang="en-US" sz="16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000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CSE (AI&amp;ML)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8640" y="56235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S. B. JAIN INSTITUTE OF TECHNOLOGY MANAGEMENT AND RESEARCH, NAGPUR</a:t>
            </a:r>
            <a:endParaRPr lang="en-US" sz="15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 Autonomous Institute, Affiliated to RTMNU, Nagpur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8869680" cy="6583680"/>
          </a:xfrm>
          <a:prstGeom prst="rect">
            <a:avLst/>
          </a:prstGeom>
          <a:ln w="19050">
            <a:solidFill>
              <a:srgbClr val="6E8C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6355080"/>
            <a:ext cx="8869680" cy="365760"/>
          </a:xfrm>
          <a:prstGeom prst="rect">
            <a:avLst/>
          </a:prstGeom>
          <a:solidFill>
            <a:srgbClr val="8FADA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635508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B. Jain Institute of Technology Management and Research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1371600"/>
          </a:xfrm>
          <a:prstGeom prst="roundRect">
            <a:avLst>
              <a:gd name="adj" fmla="val 5333"/>
            </a:avLst>
          </a:prstGeom>
          <a:solidFill>
            <a:srgbClr val="E8ECFB"/>
          </a:solidFill>
          <a:ln w="9525">
            <a:solidFill>
              <a:srgbClr val="6E8C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70432"/>
            <a:ext cx="7772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
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need software to calculate employee salaries accurately based on attendance, allowances, and deductions. This project aims to develop a payroll processing application that automates these calculations.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697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3154680"/>
            <a:ext cx="3931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calculation of employee salaries</a:t>
            </a:r>
            <a:endParaRPr lang="en-US" sz="135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and manage employee attendance records</a:t>
            </a:r>
            <a:endParaRPr lang="en-US" sz="135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allowances (HRA, DA, TA) based on basic pay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663440" y="315468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deductions (PF, tax, absent-day cuts)</a:t>
            </a:r>
            <a:endParaRPr lang="en-US" sz="135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accurate payslips for employees</a:t>
            </a:r>
            <a:endParaRPr lang="en-US" sz="135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payroll records for future reference</a:t>
            </a:r>
            <a:endParaRPr lang="en-US" sz="135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manual errors and reduce processing time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8869680" cy="6583680"/>
          </a:xfrm>
          <a:prstGeom prst="rect">
            <a:avLst/>
          </a:prstGeom>
          <a:ln w="19050">
            <a:solidFill>
              <a:srgbClr val="6E8C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6355080"/>
            <a:ext cx="8869680" cy="365760"/>
          </a:xfrm>
          <a:prstGeom prst="rect">
            <a:avLst/>
          </a:prstGeom>
          <a:solidFill>
            <a:srgbClr val="8FADA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635508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B. Jain Institute of Technology Management and Research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143000"/>
            <a:ext cx="384048" cy="384048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088136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2075688"/>
            <a:ext cx="384048" cy="384048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075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2020824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employee details (ID, name, basic salary, days present, total working days)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3008376"/>
            <a:ext cx="384048" cy="384048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008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2953512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allowances (HRA, DA, TA) based on basic salary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3941064"/>
            <a:ext cx="384048" cy="384048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941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388620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deductions (PF, tax, absent-day deductions)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02920" y="4873752"/>
            <a:ext cx="384048" cy="384048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4873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4818888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Gross Salary = Basic Salary + Allowances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709160" y="1143000"/>
            <a:ext cx="384048" cy="384048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22" name="Text 20"/>
          <p:cNvSpPr/>
          <p:nvPr/>
        </p:nvSpPr>
        <p:spPr>
          <a:xfrm>
            <a:off x="4709160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212080" y="1088136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Net Salary = Gross Salary − Total Deductions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709160" y="2075688"/>
            <a:ext cx="384048" cy="384048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25" name="Text 23"/>
          <p:cNvSpPr/>
          <p:nvPr/>
        </p:nvSpPr>
        <p:spPr>
          <a:xfrm>
            <a:off x="4709160" y="2075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212080" y="2020824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and display payslip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709160" y="3008376"/>
            <a:ext cx="384048" cy="384048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28" name="Text 26"/>
          <p:cNvSpPr/>
          <p:nvPr/>
        </p:nvSpPr>
        <p:spPr>
          <a:xfrm>
            <a:off x="4709160" y="3008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212080" y="2953512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employee record (file / database)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709160" y="3941064"/>
            <a:ext cx="384048" cy="384048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31" name="Text 29"/>
          <p:cNvSpPr/>
          <p:nvPr/>
        </p:nvSpPr>
        <p:spPr>
          <a:xfrm>
            <a:off x="4709160" y="3941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212080" y="388620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for next employee or exit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4709160" y="4873752"/>
            <a:ext cx="384048" cy="384048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34" name="Text 32"/>
          <p:cNvSpPr/>
          <p:nvPr/>
        </p:nvSpPr>
        <p:spPr>
          <a:xfrm>
            <a:off x="4709160" y="4873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212080" y="4818888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8869680" cy="6583680"/>
          </a:xfrm>
          <a:prstGeom prst="rect">
            <a:avLst/>
          </a:prstGeom>
          <a:ln w="19050">
            <a:solidFill>
              <a:srgbClr val="6E8C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6355080"/>
            <a:ext cx="8869680" cy="365760"/>
          </a:xfrm>
          <a:prstGeom prst="rect">
            <a:avLst/>
          </a:prstGeom>
          <a:solidFill>
            <a:srgbClr val="8FADA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635508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B. Jain Institute of Technology Management and Research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 &amp; Flowchart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5074920" cy="5074920"/>
          </a:xfrm>
          <a:prstGeom prst="roundRect">
            <a:avLst>
              <a:gd name="adj" fmla="val 1081"/>
            </a:avLst>
          </a:prstGeom>
          <a:solidFill>
            <a:srgbClr val="F2F4F4"/>
          </a:solidFill>
          <a:ln w="9525">
            <a:solidFill>
              <a:srgbClr val="6E8C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207008"/>
            <a:ext cx="4709160" cy="480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INPUT emp_id, emp_name, basic_salary,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days_present, total_days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HRA = 0.20 * basic_salary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  = 0.10 * basic_salary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  = 0.05 * basic_salary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gross_salary = basic_salary + HRA + DA + TA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PF = 0.12 * basic_salary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per_day = basic_salary / total_days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absent_ded = (total_days - days_present) * per_day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tax = calculate_tax(gross_salary)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total_ded = PF + tax + absent_ded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net_salary = gross_salary - total_ded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 payslip(emp_id, emp_name, gross_salary,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total_ded, net_salary)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STORE record TO file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806440" y="1097280"/>
            <a:ext cx="2743200" cy="457200"/>
          </a:xfrm>
          <a:prstGeom prst="roundRect">
            <a:avLst>
              <a:gd name="adj" fmla="val 18000"/>
            </a:avLst>
          </a:prstGeom>
          <a:solidFill>
            <a:srgbClr val="0000CC"/>
          </a:solidFill>
          <a:ln w="12700">
            <a:solidFill>
              <a:srgbClr val="0000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06440" y="1097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095744" y="1563624"/>
            <a:ext cx="164592" cy="128016"/>
          </a:xfrm>
          <a:prstGeom prst="downArrow">
            <a:avLst/>
          </a:prstGeom>
          <a:solidFill>
            <a:srgbClr val="6E8C8A"/>
          </a:solidFill>
          <a:ln/>
        </p:spPr>
      </p:sp>
      <p:sp>
        <p:nvSpPr>
          <p:cNvPr id="11" name="Shape 9"/>
          <p:cNvSpPr/>
          <p:nvPr/>
        </p:nvSpPr>
        <p:spPr>
          <a:xfrm>
            <a:off x="5806440" y="1700784"/>
            <a:ext cx="274320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0000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06440" y="170078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Employee Data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095744" y="2167128"/>
            <a:ext cx="164592" cy="128016"/>
          </a:xfrm>
          <a:prstGeom prst="downArrow">
            <a:avLst/>
          </a:prstGeom>
          <a:solidFill>
            <a:srgbClr val="6E8C8A"/>
          </a:solidFill>
          <a:ln/>
        </p:spPr>
      </p:sp>
      <p:sp>
        <p:nvSpPr>
          <p:cNvPr id="14" name="Shape 12"/>
          <p:cNvSpPr/>
          <p:nvPr/>
        </p:nvSpPr>
        <p:spPr>
          <a:xfrm>
            <a:off x="5806440" y="2304288"/>
            <a:ext cx="274320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0000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06440" y="230428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Allowances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095744" y="2770632"/>
            <a:ext cx="164592" cy="128016"/>
          </a:xfrm>
          <a:prstGeom prst="downArrow">
            <a:avLst/>
          </a:prstGeom>
          <a:solidFill>
            <a:srgbClr val="6E8C8A"/>
          </a:solidFill>
          <a:ln/>
        </p:spPr>
      </p:sp>
      <p:sp>
        <p:nvSpPr>
          <p:cNvPr id="17" name="Shape 15"/>
          <p:cNvSpPr/>
          <p:nvPr/>
        </p:nvSpPr>
        <p:spPr>
          <a:xfrm>
            <a:off x="5806440" y="2907792"/>
            <a:ext cx="274320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0000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06440" y="290779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Deductions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095744" y="3374136"/>
            <a:ext cx="164592" cy="128016"/>
          </a:xfrm>
          <a:prstGeom prst="downArrow">
            <a:avLst/>
          </a:prstGeom>
          <a:solidFill>
            <a:srgbClr val="6E8C8A"/>
          </a:solidFill>
          <a:ln/>
        </p:spPr>
      </p:sp>
      <p:sp>
        <p:nvSpPr>
          <p:cNvPr id="20" name="Shape 18"/>
          <p:cNvSpPr/>
          <p:nvPr/>
        </p:nvSpPr>
        <p:spPr>
          <a:xfrm>
            <a:off x="5806440" y="3511296"/>
            <a:ext cx="274320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0000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06440" y="351129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Net Salary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095744" y="3977640"/>
            <a:ext cx="164592" cy="128016"/>
          </a:xfrm>
          <a:prstGeom prst="downArrow">
            <a:avLst/>
          </a:prstGeom>
          <a:solidFill>
            <a:srgbClr val="6E8C8A"/>
          </a:solidFill>
          <a:ln/>
        </p:spPr>
      </p:sp>
      <p:sp>
        <p:nvSpPr>
          <p:cNvPr id="23" name="Shape 21"/>
          <p:cNvSpPr/>
          <p:nvPr/>
        </p:nvSpPr>
        <p:spPr>
          <a:xfrm>
            <a:off x="5806440" y="4114800"/>
            <a:ext cx="274320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0000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06440" y="4114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Payslip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095744" y="4581144"/>
            <a:ext cx="164592" cy="128016"/>
          </a:xfrm>
          <a:prstGeom prst="downArrow">
            <a:avLst/>
          </a:prstGeom>
          <a:solidFill>
            <a:srgbClr val="6E8C8A"/>
          </a:solidFill>
          <a:ln/>
        </p:spPr>
      </p:sp>
      <p:sp>
        <p:nvSpPr>
          <p:cNvPr id="26" name="Shape 24"/>
          <p:cNvSpPr/>
          <p:nvPr/>
        </p:nvSpPr>
        <p:spPr>
          <a:xfrm>
            <a:off x="5806440" y="4718304"/>
            <a:ext cx="2743200" cy="457200"/>
          </a:xfrm>
          <a:prstGeom prst="roundRect">
            <a:avLst>
              <a:gd name="adj" fmla="val 18000"/>
            </a:avLst>
          </a:prstGeom>
          <a:solidFill>
            <a:srgbClr val="0000CC"/>
          </a:solidFill>
          <a:ln w="12700">
            <a:solidFill>
              <a:srgbClr val="0000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06440" y="471830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8869680" cy="6583680"/>
          </a:xfrm>
          <a:prstGeom prst="rect">
            <a:avLst/>
          </a:prstGeom>
          <a:ln w="19050">
            <a:solidFill>
              <a:srgbClr val="6E8C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6355080"/>
            <a:ext cx="8869680" cy="365760"/>
          </a:xfrm>
          <a:prstGeom prst="rect">
            <a:avLst/>
          </a:prstGeom>
          <a:solidFill>
            <a:srgbClr val="8FADA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635508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B. Jain Institute of Technology Management and Research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of Python Logic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3977640" cy="1170432"/>
          </a:xfrm>
          <a:prstGeom prst="roundRect">
            <a:avLst>
              <a:gd name="adj" fmla="val 4688"/>
            </a:avLst>
          </a:prstGeom>
          <a:solidFill>
            <a:srgbClr val="F2F4F4"/>
          </a:solidFill>
          <a:ln w="6350">
            <a:solidFill>
              <a:srgbClr val="6E8C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188720"/>
            <a:ext cx="3611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&amp; Data Types
</a:t>
            </a:r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salary, attendance, and employee details (int, float, string)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09160" y="1097280"/>
            <a:ext cx="3977640" cy="1170432"/>
          </a:xfrm>
          <a:prstGeom prst="roundRect">
            <a:avLst>
              <a:gd name="adj" fmla="val 4688"/>
            </a:avLst>
          </a:prstGeom>
          <a:solidFill>
            <a:srgbClr val="F2F4F4"/>
          </a:solidFill>
          <a:ln w="6350">
            <a:solidFill>
              <a:srgbClr val="6E8C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188720"/>
            <a:ext cx="3611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Statements
</a:t>
            </a:r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if-elif-else used for tax slabs and attendance-based rules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2450592"/>
            <a:ext cx="3977640" cy="1170432"/>
          </a:xfrm>
          <a:prstGeom prst="roundRect">
            <a:avLst>
              <a:gd name="adj" fmla="val 4688"/>
            </a:avLst>
          </a:prstGeom>
          <a:solidFill>
            <a:srgbClr val="F2F4F4"/>
          </a:solidFill>
          <a:ln w="6350">
            <a:solidFill>
              <a:srgbClr val="6E8C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542032"/>
            <a:ext cx="3611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(for / while)
</a:t>
            </a:r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payroll records of multiple employees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709160" y="2450592"/>
            <a:ext cx="3977640" cy="1170432"/>
          </a:xfrm>
          <a:prstGeom prst="roundRect">
            <a:avLst>
              <a:gd name="adj" fmla="val 4688"/>
            </a:avLst>
          </a:prstGeom>
          <a:solidFill>
            <a:srgbClr val="F2F4F4"/>
          </a:solidFill>
          <a:ln w="6350">
            <a:solidFill>
              <a:srgbClr val="6E8C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2542032"/>
            <a:ext cx="3611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
</a:t>
            </a:r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code — calculate_allowances(), calculate_deductions(), generate_payslip()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57200" y="3803904"/>
            <a:ext cx="3977640" cy="1170432"/>
          </a:xfrm>
          <a:prstGeom prst="roundRect">
            <a:avLst>
              <a:gd name="adj" fmla="val 4688"/>
            </a:avLst>
          </a:prstGeom>
          <a:solidFill>
            <a:srgbClr val="F2F4F4"/>
          </a:solidFill>
          <a:ln w="6350">
            <a:solidFill>
              <a:srgbClr val="6E8C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895344"/>
            <a:ext cx="3611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/ Dictionaries
</a:t>
            </a:r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and organize employee records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709160" y="3803904"/>
            <a:ext cx="3977640" cy="1170432"/>
          </a:xfrm>
          <a:prstGeom prst="roundRect">
            <a:avLst>
              <a:gd name="adj" fmla="val 4688"/>
            </a:avLst>
          </a:prstGeom>
          <a:solidFill>
            <a:srgbClr val="F2F4F4"/>
          </a:solidFill>
          <a:ln w="6350">
            <a:solidFill>
              <a:srgbClr val="6E8C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3895344"/>
            <a:ext cx="3611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Handling
</a:t>
            </a:r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Read/write employee data to CSV or text files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57200" y="5157216"/>
            <a:ext cx="3977640" cy="1170432"/>
          </a:xfrm>
          <a:prstGeom prst="roundRect">
            <a:avLst>
              <a:gd name="adj" fmla="val 4688"/>
            </a:avLst>
          </a:prstGeom>
          <a:solidFill>
            <a:srgbClr val="F2F4F4"/>
          </a:solidFill>
          <a:ln w="6350">
            <a:solidFill>
              <a:srgbClr val="6E8C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5248656"/>
            <a:ext cx="3611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Handling
</a:t>
            </a:r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try-except used to manage invalid inputs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709160" y="5157216"/>
            <a:ext cx="3977640" cy="1170432"/>
          </a:xfrm>
          <a:prstGeom prst="roundRect">
            <a:avLst>
              <a:gd name="adj" fmla="val 4688"/>
            </a:avLst>
          </a:prstGeom>
          <a:solidFill>
            <a:srgbClr val="F2F4F4"/>
          </a:solidFill>
          <a:ln w="6350">
            <a:solidFill>
              <a:srgbClr val="6E8C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5248656"/>
            <a:ext cx="3611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Formatting
</a:t>
            </a:r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a clean, formatted payslip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GitHub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137160" y="137160"/>
            <a:ext cx="8869680" cy="6583680"/>
          </a:xfrm>
          <a:prstGeom prst="rect">
            <a:avLst/>
          </a:prstGeom>
          <a:noFill/>
          <a:ln w="19050">
            <a:solidFill>
              <a:srgbClr val="6E8C8A"/>
            </a:solidFill>
            <a:prstDash val="solid"/>
          </a:ln>
        </p:spPr>
      </p:sp>
      <p:sp>
        <p:nvSpPr>
          <p:cNvPr id="3" name="Shape 3"/>
          <p:cNvSpPr/>
          <p:nvPr/>
        </p:nvSpPr>
        <p:spPr>
          <a:xfrm>
            <a:off x="137160" y="6355080"/>
            <a:ext cx="8869680" cy="365760"/>
          </a:xfrm>
          <a:prstGeom prst="rect">
            <a:avLst/>
          </a:prstGeom>
          <a:solidFill>
            <a:srgbClr val="8FADAB"/>
          </a:solidFill>
          <a:ln/>
        </p:spPr>
      </p:sp>
      <p:sp>
        <p:nvSpPr>
          <p:cNvPr id="4" name="Text 4"/>
          <p:cNvSpPr/>
          <p:nvPr/>
        </p:nvSpPr>
        <p:spPr>
          <a:xfrm>
            <a:off x="320040" y="635508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B. Jain Institute of Technology Management and Research</a:t>
            </a:r>
            <a:endParaRPr lang="en-US" sz="1200" dirty="0"/>
          </a:p>
        </p:txBody>
      </p:sp>
      <p:sp>
        <p:nvSpPr>
          <p:cNvPr id="5" name="Text 5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 and Collaboration</a:t>
            </a:r>
            <a:endParaRPr lang="en-US" sz="3000" dirty="0"/>
          </a:p>
        </p:txBody>
      </p:sp>
      <p:sp>
        <p:nvSpPr>
          <p:cNvPr id="6" name="Shape 6"/>
          <p:cNvSpPr/>
          <p:nvPr/>
        </p:nvSpPr>
        <p:spPr>
          <a:xfrm>
            <a:off x="457200" y="109728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F2F4F4"/>
          </a:solidFill>
          <a:ln w="6350">
            <a:solidFill>
              <a:srgbClr val="6E8C8A"/>
            </a:solidFill>
            <a:prstDash val="solid"/>
          </a:ln>
        </p:spPr>
      </p:sp>
      <p:sp>
        <p:nvSpPr>
          <p:cNvPr id="7" name="Text 7"/>
          <p:cNvSpPr/>
          <p:nvPr/>
        </p:nvSpPr>
        <p:spPr>
          <a:xfrm>
            <a:off x="640080" y="10972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Repository:  </a:t>
            </a: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https://github.com/tejalhml25/Python-Experiencial</a:t>
            </a:r>
            <a:endParaRPr lang="en-US" sz="1250" dirty="0"/>
          </a:p>
        </p:txBody>
      </p:sp>
      <p:sp>
        <p:nvSpPr>
          <p:cNvPr id="8" name="Shape 8"/>
          <p:cNvSpPr/>
          <p:nvPr/>
        </p:nvSpPr>
        <p:spPr>
          <a:xfrm>
            <a:off x="457200" y="1737360"/>
            <a:ext cx="4000500" cy="1645920"/>
          </a:xfrm>
          <a:prstGeom prst="roundRect">
            <a:avLst>
              <a:gd name="adj" fmla="val 4688"/>
            </a:avLst>
          </a:prstGeom>
          <a:solidFill>
            <a:srgbClr val="F2F4F4"/>
          </a:solidFill>
          <a:ln w="6350">
            <a:solidFill>
              <a:srgbClr val="6E8C8A"/>
            </a:solidFill>
            <a:prstDash val="solid"/>
          </a:ln>
        </p:spPr>
      </p:sp>
      <p:sp>
        <p:nvSpPr>
          <p:cNvPr id="9" name="Text 9"/>
          <p:cNvSpPr/>
          <p:nvPr/>
        </p:nvSpPr>
        <p:spPr>
          <a:xfrm>
            <a:off x="640080" y="1828800"/>
            <a:ext cx="36347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setup</a:t>
            </a:r>
            <a:endParaRPr lang="en-US" sz="13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created and repository published as Public</a:t>
            </a:r>
            <a:endParaRPr lang="en-US" sz="1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README.md - objective, features and salary formulas</a:t>
            </a:r>
            <a:endParaRPr lang="en-US" sz="1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payroll.py - complete Python source code</a:t>
            </a:r>
            <a:endParaRPr lang="en-US" sz="1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employees.txt - sample payroll data file</a:t>
            </a:r>
            <a:endParaRPr lang="en-US" sz="1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.gitignore - excludes __pycache__ and temp files</a:t>
            </a:r>
            <a:endParaRPr lang="en-US" sz="1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Meaningful commit message written for every change</a:t>
            </a:r>
            <a:endParaRPr lang="en-US" sz="1100" dirty="0"/>
          </a:p>
        </p:txBody>
      </p:sp>
      <p:sp>
        <p:nvSpPr>
          <p:cNvPr id="10" name="Shape 10"/>
          <p:cNvSpPr/>
          <p:nvPr/>
        </p:nvSpPr>
        <p:spPr>
          <a:xfrm>
            <a:off x="4686300" y="1737360"/>
            <a:ext cx="4000500" cy="1645920"/>
          </a:xfrm>
          <a:prstGeom prst="roundRect">
            <a:avLst>
              <a:gd name="adj" fmla="val 4688"/>
            </a:avLst>
          </a:prstGeom>
          <a:solidFill>
            <a:srgbClr val="F2F4F4"/>
          </a:solidFill>
          <a:ln w="6350">
            <a:solidFill>
              <a:srgbClr val="6E8C8A"/>
            </a:solidFill>
            <a:prstDash val="solid"/>
          </a:ln>
        </p:spPr>
      </p:sp>
      <p:sp>
        <p:nvSpPr>
          <p:cNvPr id="11" name="Text 11"/>
          <p:cNvSpPr/>
          <p:nvPr/>
        </p:nvSpPr>
        <p:spPr>
          <a:xfrm>
            <a:off x="4869180" y="1828800"/>
            <a:ext cx="36347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practices</a:t>
            </a:r>
            <a:endParaRPr lang="en-US" sz="13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Collaborator invited from Settings &gt; Collaborators</a:t>
            </a:r>
            <a:endParaRPr lang="en-US" sz="1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 feature branch created for each module</a:t>
            </a:r>
            <a:endParaRPr lang="en-US" sz="1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 raised and reviewed before merging</a:t>
            </a:r>
            <a:endParaRPr lang="en-US" sz="1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used to track pending and completed tasks</a:t>
            </a:r>
            <a:endParaRPr lang="en-US" sz="1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pull before git push to avoid merge conflicts</a:t>
            </a:r>
            <a:endParaRPr lang="en-US" sz="1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history shows individual contribution</a:t>
            </a:r>
            <a:endParaRPr lang="en-US" sz="1100" dirty="0"/>
          </a:p>
        </p:txBody>
      </p:sp>
      <p:sp>
        <p:nvSpPr>
          <p:cNvPr id="12" name="Text 12"/>
          <p:cNvSpPr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workflow followed</a:t>
            </a:r>
            <a:endParaRPr lang="en-US" sz="1250" dirty="0"/>
          </a:p>
        </p:txBody>
      </p:sp>
      <p:sp>
        <p:nvSpPr>
          <p:cNvPr id="13" name="Shape 13"/>
          <p:cNvSpPr/>
          <p:nvPr/>
        </p:nvSpPr>
        <p:spPr>
          <a:xfrm>
            <a:off x="457200" y="3886200"/>
            <a:ext cx="8229600" cy="1691640"/>
          </a:xfrm>
          <a:prstGeom prst="roundRect">
            <a:avLst>
              <a:gd name="adj" fmla="val 1081"/>
            </a:avLst>
          </a:prstGeom>
          <a:solidFill>
            <a:srgbClr val="F2F4F4"/>
          </a:solidFill>
          <a:ln w="9525">
            <a:solidFill>
              <a:srgbClr val="6E8C8A"/>
            </a:solidFill>
            <a:prstDash val="solid"/>
          </a:ln>
        </p:spPr>
      </p:sp>
      <p:sp>
        <p:nvSpPr>
          <p:cNvPr id="14" name="Text 14"/>
          <p:cNvSpPr/>
          <p:nvPr/>
        </p:nvSpPr>
        <p:spPr>
          <a:xfrm>
            <a:off x="658368" y="4041648"/>
            <a:ext cx="7827264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clone https://github.com/tejalhml25/Python-Experiencial.git</a:t>
            </a:r>
            <a:endParaRPr lang="en-US" sz="10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checkout -b feature/payslip-module</a:t>
            </a:r>
            <a:endParaRPr lang="en-US" sz="10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add payroll.py README.md employees.txt</a:t>
            </a:r>
            <a:endParaRPr lang="en-US" sz="10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commit -m "Implemented payslip generation and file handling"</a:t>
            </a:r>
            <a:endParaRPr lang="en-US" sz="10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push origin feature/payslip-module</a:t>
            </a:r>
            <a:endParaRPr lang="en-US" sz="10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-&gt; Pull Request raised, reviewed by the team member, merged into main</a:t>
            </a:r>
            <a:endParaRPr lang="en-US" sz="10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pull origin main        # sync before starting the next module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8869680" cy="6583680"/>
          </a:xfrm>
          <a:prstGeom prst="rect">
            <a:avLst/>
          </a:prstGeom>
          <a:ln w="19050">
            <a:solidFill>
              <a:srgbClr val="6E8C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6355080"/>
            <a:ext cx="8869680" cy="365760"/>
          </a:xfrm>
          <a:prstGeom prst="rect">
            <a:avLst/>
          </a:prstGeom>
          <a:solidFill>
            <a:srgbClr val="8FADA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635508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B. Jain Institute of Technology Management and Research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gress of Project Wor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137160" y="137160"/>
            <a:ext cx="8869680" cy="6583680"/>
          </a:xfrm>
          <a:prstGeom prst="rect">
            <a:avLst/>
          </a:prstGeom>
          <a:noFill/>
          <a:ln w="19050">
            <a:solidFill>
              <a:srgbClr val="6E8C8A"/>
            </a:solidFill>
            <a:prstDash val="solid"/>
          </a:ln>
        </p:spPr>
      </p:sp>
      <p:sp>
        <p:nvSpPr>
          <p:cNvPr id="3" name="Shape 3"/>
          <p:cNvSpPr/>
          <p:nvPr/>
        </p:nvSpPr>
        <p:spPr>
          <a:xfrm>
            <a:off x="137160" y="6355080"/>
            <a:ext cx="8869680" cy="365760"/>
          </a:xfrm>
          <a:prstGeom prst="rect">
            <a:avLst/>
          </a:prstGeom>
          <a:solidFill>
            <a:srgbClr val="8FADAB"/>
          </a:solidFill>
          <a:ln/>
        </p:spPr>
      </p:sp>
      <p:sp>
        <p:nvSpPr>
          <p:cNvPr id="4" name="Text 4"/>
          <p:cNvSpPr/>
          <p:nvPr/>
        </p:nvSpPr>
        <p:spPr>
          <a:xfrm>
            <a:off x="320040" y="635508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B. Jain Institute of Technology Management and Research</a:t>
            </a:r>
            <a:endParaRPr lang="en-US" sz="1200" dirty="0"/>
          </a:p>
        </p:txBody>
      </p:sp>
      <p:sp>
        <p:nvSpPr>
          <p:cNvPr id="5" name="Text 5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of Project Work (70%)</a:t>
            </a:r>
            <a:endParaRPr lang="en-US" sz="3000" dirty="0"/>
          </a:p>
        </p:txBody>
      </p:sp>
      <p:sp>
        <p:nvSpPr>
          <p:cNvPr id="6" name="Shape 6"/>
          <p:cNvSpPr/>
          <p:nvPr/>
        </p:nvSpPr>
        <p:spPr>
          <a:xfrm>
            <a:off x="457200" y="1097280"/>
            <a:ext cx="2651760" cy="1005840"/>
          </a:xfrm>
          <a:prstGeom prst="roundRect">
            <a:avLst>
              <a:gd name="adj" fmla="val 4688"/>
            </a:avLst>
          </a:prstGeom>
          <a:solidFill>
            <a:srgbClr val="F2F4F4"/>
          </a:solidFill>
          <a:ln w="6350">
            <a:solidFill>
              <a:srgbClr val="6E8C8A"/>
            </a:solidFill>
            <a:prstDash val="solid"/>
          </a:ln>
        </p:spPr>
      </p:sp>
      <p:sp>
        <p:nvSpPr>
          <p:cNvPr id="7" name="Text 7"/>
          <p:cNvSpPr/>
          <p:nvPr/>
        </p:nvSpPr>
        <p:spPr>
          <a:xfrm>
            <a:off x="548640" y="11887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3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planned work completed</a:t>
            </a:r>
            <a:endParaRPr lang="en-US" sz="1000" dirty="0"/>
          </a:p>
        </p:txBody>
      </p:sp>
      <p:sp>
        <p:nvSpPr>
          <p:cNvPr id="8" name="Shape 8"/>
          <p:cNvSpPr/>
          <p:nvPr/>
        </p:nvSpPr>
        <p:spPr>
          <a:xfrm>
            <a:off x="3246120" y="1097280"/>
            <a:ext cx="2651760" cy="1005840"/>
          </a:xfrm>
          <a:prstGeom prst="roundRect">
            <a:avLst>
              <a:gd name="adj" fmla="val 4688"/>
            </a:avLst>
          </a:prstGeom>
          <a:solidFill>
            <a:srgbClr val="F2F4F4"/>
          </a:solidFill>
          <a:ln w="6350">
            <a:solidFill>
              <a:srgbClr val="6E8C8A"/>
            </a:solidFill>
            <a:prstDash val="solid"/>
          </a:ln>
        </p:spPr>
      </p:sp>
      <p:sp>
        <p:nvSpPr>
          <p:cNvPr id="9" name="Text 9"/>
          <p:cNvSpPr/>
          <p:nvPr/>
        </p:nvSpPr>
        <p:spPr>
          <a:xfrm>
            <a:off x="3337560" y="11887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3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fully implemented</a:t>
            </a:r>
            <a:endParaRPr lang="en-US" sz="1000" dirty="0"/>
          </a:p>
        </p:txBody>
      </p:sp>
      <p:sp>
        <p:nvSpPr>
          <p:cNvPr id="10" name="Shape 10"/>
          <p:cNvSpPr/>
          <p:nvPr/>
        </p:nvSpPr>
        <p:spPr>
          <a:xfrm>
            <a:off x="6035040" y="1097280"/>
            <a:ext cx="2651760" cy="1005840"/>
          </a:xfrm>
          <a:prstGeom prst="roundRect">
            <a:avLst>
              <a:gd name="adj" fmla="val 4688"/>
            </a:avLst>
          </a:prstGeom>
          <a:solidFill>
            <a:srgbClr val="F2F4F4"/>
          </a:solidFill>
          <a:ln w="6350">
            <a:solidFill>
              <a:srgbClr val="6E8C8A"/>
            </a:solidFill>
            <a:prstDash val="solid"/>
          </a:ln>
        </p:spPr>
      </p:sp>
      <p:sp>
        <p:nvSpPr>
          <p:cNvPr id="11" name="Text 11"/>
          <p:cNvSpPr/>
          <p:nvPr/>
        </p:nvSpPr>
        <p:spPr>
          <a:xfrm>
            <a:off x="6126480" y="11887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210</a:t>
            </a:r>
            <a:endParaRPr lang="en-US" sz="3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Python source code</a:t>
            </a:r>
            <a:endParaRPr lang="en-US" sz="1000" dirty="0"/>
          </a:p>
        </p:txBody>
      </p:sp>
      <p:sp>
        <p:nvSpPr>
          <p:cNvPr id="12" name="Shape 12"/>
          <p:cNvSpPr/>
          <p:nvPr/>
        </p:nvSpPr>
        <p:spPr>
          <a:xfrm>
            <a:off x="457200" y="2286000"/>
            <a:ext cx="2377440" cy="411480"/>
          </a:xfrm>
          <a:prstGeom prst="rect">
            <a:avLst/>
          </a:prstGeom>
          <a:solidFill>
            <a:srgbClr val="6E8C8A"/>
          </a:solidFill>
          <a:ln w="6350">
            <a:solidFill>
              <a:srgbClr val="6E8C8A"/>
            </a:solidFill>
            <a:prstDash val="solid"/>
          </a:ln>
        </p:spPr>
      </p:sp>
      <p:sp>
        <p:nvSpPr>
          <p:cNvPr id="13" name="Text 13"/>
          <p:cNvSpPr/>
          <p:nvPr/>
        </p:nvSpPr>
        <p:spPr>
          <a:xfrm>
            <a:off x="548640" y="22860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150" dirty="0"/>
          </a:p>
        </p:txBody>
      </p:sp>
      <p:sp>
        <p:nvSpPr>
          <p:cNvPr id="14" name="Shape 14"/>
          <p:cNvSpPr/>
          <p:nvPr/>
        </p:nvSpPr>
        <p:spPr>
          <a:xfrm>
            <a:off x="2834640" y="2286000"/>
            <a:ext cx="3931920" cy="411480"/>
          </a:xfrm>
          <a:prstGeom prst="rect">
            <a:avLst/>
          </a:prstGeom>
          <a:solidFill>
            <a:srgbClr val="6E8C8A"/>
          </a:solidFill>
          <a:ln w="6350">
            <a:solidFill>
              <a:srgbClr val="6E8C8A"/>
            </a:solidFill>
            <a:prstDash val="solid"/>
          </a:ln>
        </p:spPr>
      </p:sp>
      <p:sp>
        <p:nvSpPr>
          <p:cNvPr id="15" name="Text 15"/>
          <p:cNvSpPr/>
          <p:nvPr/>
        </p:nvSpPr>
        <p:spPr>
          <a:xfrm>
            <a:off x="2926080" y="22860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Completed in Phase-II</a:t>
            </a:r>
            <a:endParaRPr lang="en-US" sz="1150" dirty="0"/>
          </a:p>
        </p:txBody>
      </p:sp>
      <p:sp>
        <p:nvSpPr>
          <p:cNvPr id="16" name="Shape 16"/>
          <p:cNvSpPr/>
          <p:nvPr/>
        </p:nvSpPr>
        <p:spPr>
          <a:xfrm>
            <a:off x="6766560" y="2286000"/>
            <a:ext cx="1920240" cy="411480"/>
          </a:xfrm>
          <a:prstGeom prst="rect">
            <a:avLst/>
          </a:prstGeom>
          <a:solidFill>
            <a:srgbClr val="6E8C8A"/>
          </a:solidFill>
          <a:ln w="6350">
            <a:solidFill>
              <a:srgbClr val="6E8C8A"/>
            </a:solidFill>
            <a:prstDash val="solid"/>
          </a:ln>
        </p:spPr>
      </p:sp>
      <p:sp>
        <p:nvSpPr>
          <p:cNvPr id="17" name="Text 17"/>
          <p:cNvSpPr/>
          <p:nvPr/>
        </p:nvSpPr>
        <p:spPr>
          <a:xfrm>
            <a:off x="6858000" y="22860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50" dirty="0"/>
          </a:p>
        </p:txBody>
      </p:sp>
      <p:sp>
        <p:nvSpPr>
          <p:cNvPr id="18" name="Shape 18"/>
          <p:cNvSpPr/>
          <p:nvPr/>
        </p:nvSpPr>
        <p:spPr>
          <a:xfrm>
            <a:off x="457200" y="2697480"/>
            <a:ext cx="2377440" cy="411480"/>
          </a:xfrm>
          <a:prstGeom prst="rect">
            <a:avLst/>
          </a:prstGeom>
          <a:solidFill>
            <a:srgbClr val="F2F4F4"/>
          </a:solidFill>
          <a:ln w="6350">
            <a:solidFill>
              <a:srgbClr val="6E8C8A"/>
            </a:solidFill>
            <a:prstDash val="solid"/>
          </a:ln>
        </p:spPr>
      </p:sp>
      <p:sp>
        <p:nvSpPr>
          <p:cNvPr id="19" name="Text 19"/>
          <p:cNvSpPr/>
          <p:nvPr/>
        </p:nvSpPr>
        <p:spPr>
          <a:xfrm>
            <a:off x="548640" y="26974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&amp; Validation</a:t>
            </a:r>
            <a:endParaRPr lang="en-US" sz="1050" dirty="0"/>
          </a:p>
        </p:txBody>
      </p:sp>
      <p:sp>
        <p:nvSpPr>
          <p:cNvPr id="20" name="Shape 20"/>
          <p:cNvSpPr/>
          <p:nvPr/>
        </p:nvSpPr>
        <p:spPr>
          <a:xfrm>
            <a:off x="2834640" y="2697480"/>
            <a:ext cx="3931920" cy="411480"/>
          </a:xfrm>
          <a:prstGeom prst="rect">
            <a:avLst/>
          </a:prstGeom>
          <a:solidFill>
            <a:srgbClr val="F2F4F4"/>
          </a:solidFill>
          <a:ln w="6350">
            <a:solidFill>
              <a:srgbClr val="6E8C8A"/>
            </a:solidFill>
            <a:prstDash val="solid"/>
          </a:ln>
        </p:spPr>
      </p:sp>
      <p:sp>
        <p:nvSpPr>
          <p:cNvPr id="21" name="Text 21"/>
          <p:cNvSpPr/>
          <p:nvPr/>
        </p:nvSpPr>
        <p:spPr>
          <a:xfrm>
            <a:off x="2926080" y="26974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details and attendance captured</a:t>
            </a:r>
            <a:endParaRPr lang="en-US" sz="1050" dirty="0"/>
          </a:p>
        </p:txBody>
      </p:sp>
      <p:sp>
        <p:nvSpPr>
          <p:cNvPr id="22" name="Shape 22"/>
          <p:cNvSpPr/>
          <p:nvPr/>
        </p:nvSpPr>
        <p:spPr>
          <a:xfrm>
            <a:off x="6766560" y="2697480"/>
            <a:ext cx="1920240" cy="411480"/>
          </a:xfrm>
          <a:prstGeom prst="rect">
            <a:avLst/>
          </a:prstGeom>
          <a:solidFill>
            <a:srgbClr val="F2F4F4"/>
          </a:solidFill>
          <a:ln w="6350">
            <a:solidFill>
              <a:srgbClr val="6E8C8A"/>
            </a:solidFill>
            <a:prstDash val="solid"/>
          </a:ln>
        </p:spPr>
      </p:sp>
      <p:sp>
        <p:nvSpPr>
          <p:cNvPr id="23" name="Text 23"/>
          <p:cNvSpPr/>
          <p:nvPr/>
        </p:nvSpPr>
        <p:spPr>
          <a:xfrm>
            <a:off x="6858000" y="26974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F6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050" dirty="0"/>
          </a:p>
        </p:txBody>
      </p:sp>
      <p:sp>
        <p:nvSpPr>
          <p:cNvPr id="24" name="Shape 24"/>
          <p:cNvSpPr/>
          <p:nvPr/>
        </p:nvSpPr>
        <p:spPr>
          <a:xfrm>
            <a:off x="457200" y="3108960"/>
            <a:ext cx="23774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6E8C8A"/>
            </a:solidFill>
            <a:prstDash val="solid"/>
          </a:ln>
        </p:spPr>
      </p:sp>
      <p:sp>
        <p:nvSpPr>
          <p:cNvPr id="25" name="Text 25"/>
          <p:cNvSpPr/>
          <p:nvPr/>
        </p:nvSpPr>
        <p:spPr>
          <a:xfrm>
            <a:off x="548640" y="31089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Allowance Module</a:t>
            </a:r>
            <a:endParaRPr lang="en-US" sz="1050" dirty="0"/>
          </a:p>
        </p:txBody>
      </p:sp>
      <p:sp>
        <p:nvSpPr>
          <p:cNvPr id="26" name="Shape 26"/>
          <p:cNvSpPr/>
          <p:nvPr/>
        </p:nvSpPr>
        <p:spPr>
          <a:xfrm>
            <a:off x="2834640" y="3108960"/>
            <a:ext cx="39319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6E8C8A"/>
            </a:solidFill>
            <a:prstDash val="solid"/>
          </a:ln>
        </p:spPr>
      </p:sp>
      <p:sp>
        <p:nvSpPr>
          <p:cNvPr id="27" name="Text 27"/>
          <p:cNvSpPr/>
          <p:nvPr/>
        </p:nvSpPr>
        <p:spPr>
          <a:xfrm>
            <a:off x="2926080" y="31089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HRA 20%, DA 10% and TA 5% on basic salary</a:t>
            </a:r>
            <a:endParaRPr lang="en-US" sz="1050" dirty="0"/>
          </a:p>
        </p:txBody>
      </p:sp>
      <p:sp>
        <p:nvSpPr>
          <p:cNvPr id="28" name="Shape 28"/>
          <p:cNvSpPr/>
          <p:nvPr/>
        </p:nvSpPr>
        <p:spPr>
          <a:xfrm>
            <a:off x="6766560" y="3108960"/>
            <a:ext cx="19202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6E8C8A"/>
            </a:solidFill>
            <a:prstDash val="solid"/>
          </a:ln>
        </p:spPr>
      </p:sp>
      <p:sp>
        <p:nvSpPr>
          <p:cNvPr id="29" name="Text 29"/>
          <p:cNvSpPr/>
          <p:nvPr/>
        </p:nvSpPr>
        <p:spPr>
          <a:xfrm>
            <a:off x="6858000" y="31089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F6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050" dirty="0"/>
          </a:p>
        </p:txBody>
      </p:sp>
      <p:sp>
        <p:nvSpPr>
          <p:cNvPr id="30" name="Shape 30"/>
          <p:cNvSpPr/>
          <p:nvPr/>
        </p:nvSpPr>
        <p:spPr>
          <a:xfrm>
            <a:off x="457200" y="3520440"/>
            <a:ext cx="2377440" cy="411480"/>
          </a:xfrm>
          <a:prstGeom prst="rect">
            <a:avLst/>
          </a:prstGeom>
          <a:solidFill>
            <a:srgbClr val="F2F4F4"/>
          </a:solidFill>
          <a:ln w="6350">
            <a:solidFill>
              <a:srgbClr val="6E8C8A"/>
            </a:solidFill>
            <a:prstDash val="solid"/>
          </a:ln>
        </p:spPr>
      </p:sp>
      <p:sp>
        <p:nvSpPr>
          <p:cNvPr id="31" name="Text 31"/>
          <p:cNvSpPr/>
          <p:nvPr/>
        </p:nvSpPr>
        <p:spPr>
          <a:xfrm>
            <a:off x="548640" y="35204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Deduction Module</a:t>
            </a:r>
            <a:endParaRPr lang="en-US" sz="1050" dirty="0"/>
          </a:p>
        </p:txBody>
      </p:sp>
      <p:sp>
        <p:nvSpPr>
          <p:cNvPr id="32" name="Shape 32"/>
          <p:cNvSpPr/>
          <p:nvPr/>
        </p:nvSpPr>
        <p:spPr>
          <a:xfrm>
            <a:off x="2834640" y="3520440"/>
            <a:ext cx="3931920" cy="411480"/>
          </a:xfrm>
          <a:prstGeom prst="rect">
            <a:avLst/>
          </a:prstGeom>
          <a:solidFill>
            <a:srgbClr val="F2F4F4"/>
          </a:solidFill>
          <a:ln w="6350">
            <a:solidFill>
              <a:srgbClr val="6E8C8A"/>
            </a:solidFill>
            <a:prstDash val="solid"/>
          </a:ln>
        </p:spPr>
      </p:sp>
      <p:sp>
        <p:nvSpPr>
          <p:cNvPr id="33" name="Text 33"/>
          <p:cNvSpPr/>
          <p:nvPr/>
        </p:nvSpPr>
        <p:spPr>
          <a:xfrm>
            <a:off x="2926080" y="35204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 12%, tax slabs and absent-day cut</a:t>
            </a:r>
            <a:endParaRPr lang="en-US" sz="1050" dirty="0"/>
          </a:p>
        </p:txBody>
      </p:sp>
      <p:sp>
        <p:nvSpPr>
          <p:cNvPr id="34" name="Shape 34"/>
          <p:cNvSpPr/>
          <p:nvPr/>
        </p:nvSpPr>
        <p:spPr>
          <a:xfrm>
            <a:off x="6766560" y="3520440"/>
            <a:ext cx="1920240" cy="411480"/>
          </a:xfrm>
          <a:prstGeom prst="rect">
            <a:avLst/>
          </a:prstGeom>
          <a:solidFill>
            <a:srgbClr val="F2F4F4"/>
          </a:solidFill>
          <a:ln w="6350">
            <a:solidFill>
              <a:srgbClr val="6E8C8A"/>
            </a:solidFill>
            <a:prstDash val="solid"/>
          </a:ln>
        </p:spPr>
      </p:sp>
      <p:sp>
        <p:nvSpPr>
          <p:cNvPr id="35" name="Text 35"/>
          <p:cNvSpPr/>
          <p:nvPr/>
        </p:nvSpPr>
        <p:spPr>
          <a:xfrm>
            <a:off x="6858000" y="35204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F6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050" dirty="0"/>
          </a:p>
        </p:txBody>
      </p:sp>
      <p:sp>
        <p:nvSpPr>
          <p:cNvPr id="36" name="Shape 36"/>
          <p:cNvSpPr/>
          <p:nvPr/>
        </p:nvSpPr>
        <p:spPr>
          <a:xfrm>
            <a:off x="457200" y="3931920"/>
            <a:ext cx="23774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6E8C8A"/>
            </a:solidFill>
            <a:prstDash val="solid"/>
          </a:ln>
        </p:spPr>
      </p:sp>
      <p:sp>
        <p:nvSpPr>
          <p:cNvPr id="37" name="Text 37"/>
          <p:cNvSpPr/>
          <p:nvPr/>
        </p:nvSpPr>
        <p:spPr>
          <a:xfrm>
            <a:off x="548640" y="39319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Engine</a:t>
            </a:r>
            <a:endParaRPr lang="en-US" sz="1050" dirty="0"/>
          </a:p>
        </p:txBody>
      </p:sp>
      <p:sp>
        <p:nvSpPr>
          <p:cNvPr id="38" name="Shape 38"/>
          <p:cNvSpPr/>
          <p:nvPr/>
        </p:nvSpPr>
        <p:spPr>
          <a:xfrm>
            <a:off x="2834640" y="3931920"/>
            <a:ext cx="39319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6E8C8A"/>
            </a:solidFill>
            <a:prstDash val="solid"/>
          </a:ln>
        </p:spPr>
      </p:sp>
      <p:sp>
        <p:nvSpPr>
          <p:cNvPr id="39" name="Text 39"/>
          <p:cNvSpPr/>
          <p:nvPr/>
        </p:nvSpPr>
        <p:spPr>
          <a:xfrm>
            <a:off x="2926080" y="39319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and Net salary computation</a:t>
            </a:r>
            <a:endParaRPr lang="en-US" sz="1050" dirty="0"/>
          </a:p>
        </p:txBody>
      </p:sp>
      <p:sp>
        <p:nvSpPr>
          <p:cNvPr id="40" name="Shape 40"/>
          <p:cNvSpPr/>
          <p:nvPr/>
        </p:nvSpPr>
        <p:spPr>
          <a:xfrm>
            <a:off x="6766560" y="3931920"/>
            <a:ext cx="19202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6E8C8A"/>
            </a:solidFill>
            <a:prstDash val="solid"/>
          </a:ln>
        </p:spPr>
      </p:sp>
      <p:sp>
        <p:nvSpPr>
          <p:cNvPr id="41" name="Text 41"/>
          <p:cNvSpPr/>
          <p:nvPr/>
        </p:nvSpPr>
        <p:spPr>
          <a:xfrm>
            <a:off x="6858000" y="39319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F6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050" dirty="0"/>
          </a:p>
        </p:txBody>
      </p:sp>
      <p:sp>
        <p:nvSpPr>
          <p:cNvPr id="42" name="Shape 42"/>
          <p:cNvSpPr/>
          <p:nvPr/>
        </p:nvSpPr>
        <p:spPr>
          <a:xfrm>
            <a:off x="457200" y="4343400"/>
            <a:ext cx="2377440" cy="411480"/>
          </a:xfrm>
          <a:prstGeom prst="rect">
            <a:avLst/>
          </a:prstGeom>
          <a:solidFill>
            <a:srgbClr val="F2F4F4"/>
          </a:solidFill>
          <a:ln w="6350">
            <a:solidFill>
              <a:srgbClr val="6E8C8A"/>
            </a:solidFill>
            <a:prstDash val="solid"/>
          </a:ln>
        </p:spPr>
      </p:sp>
      <p:sp>
        <p:nvSpPr>
          <p:cNvPr id="43" name="Text 43"/>
          <p:cNvSpPr/>
          <p:nvPr/>
        </p:nvSpPr>
        <p:spPr>
          <a:xfrm>
            <a:off x="548640" y="43434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Payslip Generator</a:t>
            </a:r>
            <a:endParaRPr lang="en-US" sz="1050" dirty="0"/>
          </a:p>
        </p:txBody>
      </p:sp>
      <p:sp>
        <p:nvSpPr>
          <p:cNvPr id="44" name="Shape 44"/>
          <p:cNvSpPr/>
          <p:nvPr/>
        </p:nvSpPr>
        <p:spPr>
          <a:xfrm>
            <a:off x="2834640" y="4343400"/>
            <a:ext cx="3931920" cy="411480"/>
          </a:xfrm>
          <a:prstGeom prst="rect">
            <a:avLst/>
          </a:prstGeom>
          <a:solidFill>
            <a:srgbClr val="F2F4F4"/>
          </a:solidFill>
          <a:ln w="6350">
            <a:solidFill>
              <a:srgbClr val="6E8C8A"/>
            </a:solidFill>
            <a:prstDash val="solid"/>
          </a:ln>
        </p:spPr>
      </p:sp>
      <p:sp>
        <p:nvSpPr>
          <p:cNvPr id="45" name="Text 45"/>
          <p:cNvSpPr/>
          <p:nvPr/>
        </p:nvSpPr>
        <p:spPr>
          <a:xfrm>
            <a:off x="2926080" y="43434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Formatted payslip printed on the console</a:t>
            </a:r>
            <a:endParaRPr lang="en-US" sz="1050" dirty="0"/>
          </a:p>
        </p:txBody>
      </p:sp>
      <p:sp>
        <p:nvSpPr>
          <p:cNvPr id="46" name="Shape 46"/>
          <p:cNvSpPr/>
          <p:nvPr/>
        </p:nvSpPr>
        <p:spPr>
          <a:xfrm>
            <a:off x="6766560" y="4343400"/>
            <a:ext cx="1920240" cy="411480"/>
          </a:xfrm>
          <a:prstGeom prst="rect">
            <a:avLst/>
          </a:prstGeom>
          <a:solidFill>
            <a:srgbClr val="F2F4F4"/>
          </a:solidFill>
          <a:ln w="6350">
            <a:solidFill>
              <a:srgbClr val="6E8C8A"/>
            </a:solidFill>
            <a:prstDash val="solid"/>
          </a:ln>
        </p:spPr>
      </p:sp>
      <p:sp>
        <p:nvSpPr>
          <p:cNvPr id="47" name="Text 47"/>
          <p:cNvSpPr/>
          <p:nvPr/>
        </p:nvSpPr>
        <p:spPr>
          <a:xfrm>
            <a:off x="6858000" y="43434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F6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050" dirty="0"/>
          </a:p>
        </p:txBody>
      </p:sp>
      <p:sp>
        <p:nvSpPr>
          <p:cNvPr id="48" name="Shape 48"/>
          <p:cNvSpPr/>
          <p:nvPr/>
        </p:nvSpPr>
        <p:spPr>
          <a:xfrm>
            <a:off x="457200" y="4754880"/>
            <a:ext cx="23774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6E8C8A"/>
            </a:solidFill>
            <a:prstDash val="solid"/>
          </a:ln>
        </p:spPr>
      </p:sp>
      <p:sp>
        <p:nvSpPr>
          <p:cNvPr id="49" name="Text 49"/>
          <p:cNvSpPr/>
          <p:nvPr/>
        </p:nvSpPr>
        <p:spPr>
          <a:xfrm>
            <a:off x="548640" y="47548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Handling</a:t>
            </a:r>
            <a:endParaRPr lang="en-US" sz="1050" dirty="0"/>
          </a:p>
        </p:txBody>
      </p:sp>
      <p:sp>
        <p:nvSpPr>
          <p:cNvPr id="50" name="Shape 50"/>
          <p:cNvSpPr/>
          <p:nvPr/>
        </p:nvSpPr>
        <p:spPr>
          <a:xfrm>
            <a:off x="2834640" y="4754880"/>
            <a:ext cx="39319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6E8C8A"/>
            </a:solidFill>
            <a:prstDash val="solid"/>
          </a:ln>
        </p:spPr>
      </p:sp>
      <p:sp>
        <p:nvSpPr>
          <p:cNvPr id="51" name="Text 51"/>
          <p:cNvSpPr/>
          <p:nvPr/>
        </p:nvSpPr>
        <p:spPr>
          <a:xfrm>
            <a:off x="2926080" y="47548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saved to and read from employees.txt</a:t>
            </a:r>
            <a:endParaRPr lang="en-US" sz="1050" dirty="0"/>
          </a:p>
        </p:txBody>
      </p:sp>
      <p:sp>
        <p:nvSpPr>
          <p:cNvPr id="52" name="Shape 52"/>
          <p:cNvSpPr/>
          <p:nvPr/>
        </p:nvSpPr>
        <p:spPr>
          <a:xfrm>
            <a:off x="6766560" y="4754880"/>
            <a:ext cx="19202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6E8C8A"/>
            </a:solidFill>
            <a:prstDash val="solid"/>
          </a:ln>
        </p:spPr>
      </p:sp>
      <p:sp>
        <p:nvSpPr>
          <p:cNvPr id="53" name="Text 53"/>
          <p:cNvSpPr/>
          <p:nvPr/>
        </p:nvSpPr>
        <p:spPr>
          <a:xfrm>
            <a:off x="6858000" y="47548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F6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050" dirty="0"/>
          </a:p>
        </p:txBody>
      </p:sp>
      <p:sp>
        <p:nvSpPr>
          <p:cNvPr id="54" name="Shape 54"/>
          <p:cNvSpPr/>
          <p:nvPr/>
        </p:nvSpPr>
        <p:spPr>
          <a:xfrm>
            <a:off x="457200" y="5166360"/>
            <a:ext cx="2377440" cy="411480"/>
          </a:xfrm>
          <a:prstGeom prst="rect">
            <a:avLst/>
          </a:prstGeom>
          <a:solidFill>
            <a:srgbClr val="F2F4F4"/>
          </a:solidFill>
          <a:ln w="6350">
            <a:solidFill>
              <a:srgbClr val="6E8C8A"/>
            </a:solidFill>
            <a:prstDash val="solid"/>
          </a:ln>
        </p:spPr>
      </p:sp>
      <p:sp>
        <p:nvSpPr>
          <p:cNvPr id="55" name="Text 55"/>
          <p:cNvSpPr/>
          <p:nvPr/>
        </p:nvSpPr>
        <p:spPr>
          <a:xfrm>
            <a:off x="548640" y="51663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Report</a:t>
            </a:r>
            <a:endParaRPr lang="en-US" sz="1050" dirty="0"/>
          </a:p>
        </p:txBody>
      </p:sp>
      <p:sp>
        <p:nvSpPr>
          <p:cNvPr id="56" name="Shape 56"/>
          <p:cNvSpPr/>
          <p:nvPr/>
        </p:nvSpPr>
        <p:spPr>
          <a:xfrm>
            <a:off x="2834640" y="5166360"/>
            <a:ext cx="3931920" cy="411480"/>
          </a:xfrm>
          <a:prstGeom prst="rect">
            <a:avLst/>
          </a:prstGeom>
          <a:solidFill>
            <a:srgbClr val="F2F4F4"/>
          </a:solidFill>
          <a:ln w="6350">
            <a:solidFill>
              <a:srgbClr val="6E8C8A"/>
            </a:solidFill>
            <a:prstDash val="solid"/>
          </a:ln>
        </p:spPr>
      </p:sp>
      <p:sp>
        <p:nvSpPr>
          <p:cNvPr id="57" name="Text 57"/>
          <p:cNvSpPr/>
          <p:nvPr/>
        </p:nvSpPr>
        <p:spPr>
          <a:xfrm>
            <a:off x="2926080" y="51663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Month-wise consolidated payroll report</a:t>
            </a:r>
            <a:endParaRPr lang="en-US" sz="1050" dirty="0"/>
          </a:p>
        </p:txBody>
      </p:sp>
      <p:sp>
        <p:nvSpPr>
          <p:cNvPr id="58" name="Shape 58"/>
          <p:cNvSpPr/>
          <p:nvPr/>
        </p:nvSpPr>
        <p:spPr>
          <a:xfrm>
            <a:off x="6766560" y="5166360"/>
            <a:ext cx="1920240" cy="411480"/>
          </a:xfrm>
          <a:prstGeom prst="rect">
            <a:avLst/>
          </a:prstGeom>
          <a:solidFill>
            <a:srgbClr val="F2F4F4"/>
          </a:solidFill>
          <a:ln w="6350">
            <a:solidFill>
              <a:srgbClr val="6E8C8A"/>
            </a:solidFill>
            <a:prstDash val="solid"/>
          </a:ln>
        </p:spPr>
      </p:sp>
      <p:sp>
        <p:nvSpPr>
          <p:cNvPr id="59" name="Text 59"/>
          <p:cNvSpPr/>
          <p:nvPr/>
        </p:nvSpPr>
        <p:spPr>
          <a:xfrm>
            <a:off x="6858000" y="51663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B3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50" dirty="0"/>
          </a:p>
        </p:txBody>
      </p:sp>
      <p:sp>
        <p:nvSpPr>
          <p:cNvPr id="60" name="Shape 60"/>
          <p:cNvSpPr/>
          <p:nvPr/>
        </p:nvSpPr>
        <p:spPr>
          <a:xfrm>
            <a:off x="457200" y="5715000"/>
            <a:ext cx="8229600" cy="411480"/>
          </a:xfrm>
          <a:prstGeom prst="roundRect">
            <a:avLst>
              <a:gd name="adj" fmla="val 12000"/>
            </a:avLst>
          </a:prstGeom>
          <a:solidFill>
            <a:srgbClr val="F2F4F4"/>
          </a:solidFill>
          <a:ln w="6350">
            <a:solidFill>
              <a:srgbClr val="6E8C8A"/>
            </a:solidFill>
            <a:prstDash val="solid"/>
          </a:ln>
        </p:spPr>
      </p:sp>
      <p:sp>
        <p:nvSpPr>
          <p:cNvPr id="61" name="Text 61"/>
          <p:cNvSpPr/>
          <p:nvPr/>
        </p:nvSpPr>
        <p:spPr>
          <a:xfrm>
            <a:off x="640080" y="57150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Phase-II scope:  </a:t>
            </a: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coding, testing and GitHub collaboration. The remaining 30% is listed on the Remaining Work slide.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Implementa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137160" y="137160"/>
            <a:ext cx="8869680" cy="6583680"/>
          </a:xfrm>
          <a:prstGeom prst="rect">
            <a:avLst/>
          </a:prstGeom>
          <a:noFill/>
          <a:ln w="19050">
            <a:solidFill>
              <a:srgbClr val="6E8C8A"/>
            </a:solidFill>
            <a:prstDash val="solid"/>
          </a:ln>
        </p:spPr>
      </p:sp>
      <p:sp>
        <p:nvSpPr>
          <p:cNvPr id="3" name="Shape 3"/>
          <p:cNvSpPr/>
          <p:nvPr/>
        </p:nvSpPr>
        <p:spPr>
          <a:xfrm>
            <a:off x="137160" y="6355080"/>
            <a:ext cx="8869680" cy="365760"/>
          </a:xfrm>
          <a:prstGeom prst="rect">
            <a:avLst/>
          </a:prstGeom>
          <a:solidFill>
            <a:srgbClr val="8FADAB"/>
          </a:solidFill>
          <a:ln/>
        </p:spPr>
      </p:sp>
      <p:sp>
        <p:nvSpPr>
          <p:cNvPr id="4" name="Text 4"/>
          <p:cNvSpPr/>
          <p:nvPr/>
        </p:nvSpPr>
        <p:spPr>
          <a:xfrm>
            <a:off x="320040" y="635508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B. Jain Institute of Technology Management and Research</a:t>
            </a:r>
            <a:endParaRPr lang="en-US" sz="1200" dirty="0"/>
          </a:p>
        </p:txBody>
      </p:sp>
      <p:sp>
        <p:nvSpPr>
          <p:cNvPr id="5" name="Text 5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– Module-wise Work Done</a:t>
            </a:r>
            <a:endParaRPr lang="en-US" sz="3000" dirty="0"/>
          </a:p>
        </p:txBody>
      </p:sp>
      <p:sp>
        <p:nvSpPr>
          <p:cNvPr id="6" name="Shape 6"/>
          <p:cNvSpPr/>
          <p:nvPr/>
        </p:nvSpPr>
        <p:spPr>
          <a:xfrm>
            <a:off x="457200" y="1097280"/>
            <a:ext cx="4000500" cy="1188720"/>
          </a:xfrm>
          <a:prstGeom prst="roundRect">
            <a:avLst>
              <a:gd name="adj" fmla="val 4688"/>
            </a:avLst>
          </a:prstGeom>
          <a:solidFill>
            <a:srgbClr val="F2F4F4"/>
          </a:solidFill>
          <a:ln w="6350">
            <a:solidFill>
              <a:srgbClr val="6E8C8A"/>
            </a:solidFill>
            <a:prstDash val="solid"/>
          </a:ln>
        </p:spPr>
      </p:sp>
      <p:sp>
        <p:nvSpPr>
          <p:cNvPr id="7" name="Text 7"/>
          <p:cNvSpPr/>
          <p:nvPr/>
        </p:nvSpPr>
        <p:spPr>
          <a:xfrm>
            <a:off x="640080" y="1188720"/>
            <a:ext cx="36347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Data Entry</a:t>
            </a:r>
            <a:endParaRPr lang="en-US" sz="13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input() collects ID, name, basic pay and attendance.</a:t>
            </a:r>
            <a:endParaRPr lang="en-US" sz="1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IDs, negative pay and impossible attendance</a:t>
            </a:r>
            <a:endParaRPr lang="en-US" sz="1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rejected before any calculation runs.</a:t>
            </a:r>
            <a:endParaRPr lang="en-US" sz="1100" dirty="0"/>
          </a:p>
        </p:txBody>
      </p:sp>
      <p:sp>
        <p:nvSpPr>
          <p:cNvPr id="8" name="Shape 8"/>
          <p:cNvSpPr/>
          <p:nvPr/>
        </p:nvSpPr>
        <p:spPr>
          <a:xfrm>
            <a:off x="4686300" y="1097280"/>
            <a:ext cx="4000500" cy="1188720"/>
          </a:xfrm>
          <a:prstGeom prst="roundRect">
            <a:avLst>
              <a:gd name="adj" fmla="val 4688"/>
            </a:avLst>
          </a:prstGeom>
          <a:solidFill>
            <a:srgbClr val="F2F4F4"/>
          </a:solidFill>
          <a:ln w="6350">
            <a:solidFill>
              <a:srgbClr val="6E8C8A"/>
            </a:solidFill>
            <a:prstDash val="solid"/>
          </a:ln>
        </p:spPr>
      </p:sp>
      <p:sp>
        <p:nvSpPr>
          <p:cNvPr id="9" name="Text 9"/>
          <p:cNvSpPr/>
          <p:nvPr/>
        </p:nvSpPr>
        <p:spPr>
          <a:xfrm>
            <a:off x="4869180" y="1188720"/>
            <a:ext cx="36347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Allowance Calculation</a:t>
            </a:r>
            <a:endParaRPr lang="en-US" sz="13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calculate_allowances() derives HRA (20%), DA (10%)</a:t>
            </a:r>
            <a:endParaRPr lang="en-US" sz="1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TA (5%) from the basic salary and returns all</a:t>
            </a:r>
            <a:endParaRPr lang="en-US" sz="1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values as a tuple.</a:t>
            </a:r>
            <a:endParaRPr lang="en-US" sz="1100" dirty="0"/>
          </a:p>
        </p:txBody>
      </p:sp>
      <p:sp>
        <p:nvSpPr>
          <p:cNvPr id="10" name="Shape 10"/>
          <p:cNvSpPr/>
          <p:nvPr/>
        </p:nvSpPr>
        <p:spPr>
          <a:xfrm>
            <a:off x="457200" y="2468880"/>
            <a:ext cx="4000500" cy="1188720"/>
          </a:xfrm>
          <a:prstGeom prst="roundRect">
            <a:avLst>
              <a:gd name="adj" fmla="val 4688"/>
            </a:avLst>
          </a:prstGeom>
          <a:solidFill>
            <a:srgbClr val="F2F4F4"/>
          </a:solidFill>
          <a:ln w="6350">
            <a:solidFill>
              <a:srgbClr val="6E8C8A"/>
            </a:solidFill>
            <a:prstDash val="solid"/>
          </a:ln>
        </p:spPr>
      </p:sp>
      <p:sp>
        <p:nvSpPr>
          <p:cNvPr id="11" name="Text 11"/>
          <p:cNvSpPr/>
          <p:nvPr/>
        </p:nvSpPr>
        <p:spPr>
          <a:xfrm>
            <a:off x="640080" y="2560320"/>
            <a:ext cx="36347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Deduction Calculation</a:t>
            </a:r>
            <a:endParaRPr lang="en-US" sz="13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calculate_deductions() computes PF (12%), slab-wise</a:t>
            </a:r>
            <a:endParaRPr lang="en-US" sz="1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tax and the absent-day cut based on the</a:t>
            </a:r>
            <a:endParaRPr lang="en-US" sz="1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per-day rate of pay.</a:t>
            </a:r>
            <a:endParaRPr lang="en-US" sz="1100" dirty="0"/>
          </a:p>
        </p:txBody>
      </p:sp>
      <p:sp>
        <p:nvSpPr>
          <p:cNvPr id="12" name="Shape 12"/>
          <p:cNvSpPr/>
          <p:nvPr/>
        </p:nvSpPr>
        <p:spPr>
          <a:xfrm>
            <a:off x="4686300" y="2468880"/>
            <a:ext cx="4000500" cy="1188720"/>
          </a:xfrm>
          <a:prstGeom prst="roundRect">
            <a:avLst>
              <a:gd name="adj" fmla="val 4688"/>
            </a:avLst>
          </a:prstGeom>
          <a:solidFill>
            <a:srgbClr val="F2F4F4"/>
          </a:solidFill>
          <a:ln w="6350">
            <a:solidFill>
              <a:srgbClr val="6E8C8A"/>
            </a:solidFill>
            <a:prstDash val="solid"/>
          </a:ln>
        </p:spPr>
      </p:sp>
      <p:sp>
        <p:nvSpPr>
          <p:cNvPr id="13" name="Text 13"/>
          <p:cNvSpPr/>
          <p:nvPr/>
        </p:nvSpPr>
        <p:spPr>
          <a:xfrm>
            <a:off x="4869180" y="2560320"/>
            <a:ext cx="36347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Payslip Generation</a:t>
            </a:r>
            <a:endParaRPr lang="en-US" sz="13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generate_payslip() prints an aligned slip using</a:t>
            </a:r>
            <a:endParaRPr lang="en-US" sz="1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str.format() width and precision specifiers, showing</a:t>
            </a:r>
            <a:endParaRPr lang="en-US" sz="1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earning and deduction head separately.</a:t>
            </a:r>
            <a:endParaRPr lang="en-US" sz="1100" dirty="0"/>
          </a:p>
        </p:txBody>
      </p:sp>
      <p:sp>
        <p:nvSpPr>
          <p:cNvPr id="14" name="Shape 14"/>
          <p:cNvSpPr/>
          <p:nvPr/>
        </p:nvSpPr>
        <p:spPr>
          <a:xfrm>
            <a:off x="457200" y="3840480"/>
            <a:ext cx="4000500" cy="1188720"/>
          </a:xfrm>
          <a:prstGeom prst="roundRect">
            <a:avLst>
              <a:gd name="adj" fmla="val 4688"/>
            </a:avLst>
          </a:prstGeom>
          <a:solidFill>
            <a:srgbClr val="F2F4F4"/>
          </a:solidFill>
          <a:ln w="6350">
            <a:solidFill>
              <a:srgbClr val="6E8C8A"/>
            </a:solidFill>
            <a:prstDash val="solid"/>
          </a:ln>
        </p:spPr>
      </p:sp>
      <p:sp>
        <p:nvSpPr>
          <p:cNvPr id="15" name="Text 15"/>
          <p:cNvSpPr/>
          <p:nvPr/>
        </p:nvSpPr>
        <p:spPr>
          <a:xfrm>
            <a:off x="640080" y="3931920"/>
            <a:ext cx="36347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Handling</a:t>
            </a:r>
            <a:endParaRPr lang="en-US" sz="13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save_to_file() appends each record to employees.txt</a:t>
            </a:r>
            <a:endParaRPr lang="en-US" sz="1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load_from_file() restores them at start-up, so</a:t>
            </a:r>
            <a:endParaRPr lang="en-US" sz="1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data survives between runs.</a:t>
            </a:r>
            <a:endParaRPr lang="en-US" sz="1100" dirty="0"/>
          </a:p>
        </p:txBody>
      </p:sp>
      <p:sp>
        <p:nvSpPr>
          <p:cNvPr id="16" name="Shape 16"/>
          <p:cNvSpPr/>
          <p:nvPr/>
        </p:nvSpPr>
        <p:spPr>
          <a:xfrm>
            <a:off x="4686300" y="3840480"/>
            <a:ext cx="4000500" cy="1188720"/>
          </a:xfrm>
          <a:prstGeom prst="roundRect">
            <a:avLst>
              <a:gd name="adj" fmla="val 4688"/>
            </a:avLst>
          </a:prstGeom>
          <a:solidFill>
            <a:srgbClr val="F2F4F4"/>
          </a:solidFill>
          <a:ln w="6350">
            <a:solidFill>
              <a:srgbClr val="6E8C8A"/>
            </a:solidFill>
            <a:prstDash val="solid"/>
          </a:ln>
        </p:spPr>
      </p:sp>
      <p:sp>
        <p:nvSpPr>
          <p:cNvPr id="17" name="Text 17"/>
          <p:cNvSpPr/>
          <p:nvPr/>
        </p:nvSpPr>
        <p:spPr>
          <a:xfrm>
            <a:off x="4869180" y="3931920"/>
            <a:ext cx="36347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Menu-driven Control</a:t>
            </a:r>
            <a:endParaRPr lang="en-US" sz="13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while loop with if-elif-else drives add, display,</a:t>
            </a:r>
            <a:endParaRPr lang="en-US" sz="1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payslip and exit, keeping the program</a:t>
            </a:r>
            <a:endParaRPr lang="en-US" sz="1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until the user chooses to stop.</a:t>
            </a:r>
            <a:endParaRPr lang="en-US" sz="1100" dirty="0"/>
          </a:p>
        </p:txBody>
      </p:sp>
      <p:sp>
        <p:nvSpPr>
          <p:cNvPr id="18" name="Shape 18"/>
          <p:cNvSpPr/>
          <p:nvPr/>
        </p:nvSpPr>
        <p:spPr>
          <a:xfrm>
            <a:off x="457200" y="5212080"/>
            <a:ext cx="2651760" cy="1005840"/>
          </a:xfrm>
          <a:prstGeom prst="roundRect">
            <a:avLst>
              <a:gd name="adj" fmla="val 4688"/>
            </a:avLst>
          </a:prstGeom>
          <a:solidFill>
            <a:srgbClr val="F2F4F4"/>
          </a:solidFill>
          <a:ln w="6350">
            <a:solidFill>
              <a:srgbClr val="6E8C8A"/>
            </a:solidFill>
            <a:prstDash val="solid"/>
          </a:ln>
        </p:spPr>
      </p:sp>
      <p:sp>
        <p:nvSpPr>
          <p:cNvPr id="19" name="Text 19"/>
          <p:cNvSpPr/>
          <p:nvPr/>
        </p:nvSpPr>
        <p:spPr>
          <a:xfrm>
            <a:off x="548640" y="53035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210</a:t>
            </a:r>
            <a:endParaRPr lang="en-US" sz="28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Python code</a:t>
            </a:r>
            <a:endParaRPr lang="en-US" sz="1000" dirty="0"/>
          </a:p>
        </p:txBody>
      </p:sp>
      <p:sp>
        <p:nvSpPr>
          <p:cNvPr id="20" name="Shape 20"/>
          <p:cNvSpPr/>
          <p:nvPr/>
        </p:nvSpPr>
        <p:spPr>
          <a:xfrm>
            <a:off x="3246120" y="5212080"/>
            <a:ext cx="2651760" cy="1005840"/>
          </a:xfrm>
          <a:prstGeom prst="roundRect">
            <a:avLst>
              <a:gd name="adj" fmla="val 4688"/>
            </a:avLst>
          </a:prstGeom>
          <a:solidFill>
            <a:srgbClr val="F2F4F4"/>
          </a:solidFill>
          <a:ln w="6350">
            <a:solidFill>
              <a:srgbClr val="6E8C8A"/>
            </a:solidFill>
            <a:prstDash val="solid"/>
          </a:ln>
        </p:spPr>
      </p:sp>
      <p:sp>
        <p:nvSpPr>
          <p:cNvPr id="21" name="Text 21"/>
          <p:cNvSpPr/>
          <p:nvPr/>
        </p:nvSpPr>
        <p:spPr>
          <a:xfrm>
            <a:off x="3337560" y="53035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8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written</a:t>
            </a:r>
            <a:endParaRPr lang="en-US" sz="1000" dirty="0"/>
          </a:p>
        </p:txBody>
      </p:sp>
      <p:sp>
        <p:nvSpPr>
          <p:cNvPr id="22" name="Shape 22"/>
          <p:cNvSpPr/>
          <p:nvPr/>
        </p:nvSpPr>
        <p:spPr>
          <a:xfrm>
            <a:off x="6035040" y="5212080"/>
            <a:ext cx="2651760" cy="1005840"/>
          </a:xfrm>
          <a:prstGeom prst="roundRect">
            <a:avLst>
              <a:gd name="adj" fmla="val 4688"/>
            </a:avLst>
          </a:prstGeom>
          <a:solidFill>
            <a:srgbClr val="F2F4F4"/>
          </a:solidFill>
          <a:ln w="6350">
            <a:solidFill>
              <a:srgbClr val="6E8C8A"/>
            </a:solidFill>
            <a:prstDash val="solid"/>
          </a:ln>
        </p:spPr>
      </p:sp>
      <p:sp>
        <p:nvSpPr>
          <p:cNvPr id="23" name="Text 23"/>
          <p:cNvSpPr/>
          <p:nvPr/>
        </p:nvSpPr>
        <p:spPr>
          <a:xfrm>
            <a:off x="6126480" y="53035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8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libraries used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 Code Salar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137160" y="137160"/>
            <a:ext cx="8869680" cy="6583680"/>
          </a:xfrm>
          <a:prstGeom prst="rect">
            <a:avLst/>
          </a:prstGeom>
          <a:noFill/>
          <a:ln w="19050">
            <a:solidFill>
              <a:srgbClr val="6E8C8A"/>
            </a:solidFill>
            <a:prstDash val="solid"/>
          </a:ln>
        </p:spPr>
      </p:sp>
      <p:sp>
        <p:nvSpPr>
          <p:cNvPr id="3" name="Shape 3"/>
          <p:cNvSpPr/>
          <p:nvPr/>
        </p:nvSpPr>
        <p:spPr>
          <a:xfrm>
            <a:off x="137160" y="6355080"/>
            <a:ext cx="8869680" cy="365760"/>
          </a:xfrm>
          <a:prstGeom prst="rect">
            <a:avLst/>
          </a:prstGeom>
          <a:solidFill>
            <a:srgbClr val="8FADAB"/>
          </a:solidFill>
          <a:ln/>
        </p:spPr>
      </p:sp>
      <p:sp>
        <p:nvSpPr>
          <p:cNvPr id="4" name="Text 4"/>
          <p:cNvSpPr/>
          <p:nvPr/>
        </p:nvSpPr>
        <p:spPr>
          <a:xfrm>
            <a:off x="320040" y="635508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B. Jain Institute of Technology Management and Research</a:t>
            </a:r>
            <a:endParaRPr lang="en-US" sz="1200" dirty="0"/>
          </a:p>
        </p:txBody>
      </p:sp>
      <p:sp>
        <p:nvSpPr>
          <p:cNvPr id="5" name="Text 5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 – Salary Computation</a:t>
            </a:r>
            <a:endParaRPr lang="en-US" sz="3000" dirty="0"/>
          </a:p>
        </p:txBody>
      </p:sp>
      <p:sp>
        <p:nvSpPr>
          <p:cNvPr id="6" name="Shape 6"/>
          <p:cNvSpPr/>
          <p:nvPr/>
        </p:nvSpPr>
        <p:spPr>
          <a:xfrm>
            <a:off x="457200" y="1005840"/>
            <a:ext cx="5181600" cy="4937760"/>
          </a:xfrm>
          <a:prstGeom prst="roundRect">
            <a:avLst>
              <a:gd name="adj" fmla="val 1081"/>
            </a:avLst>
          </a:prstGeom>
          <a:solidFill>
            <a:srgbClr val="F2F4F4"/>
          </a:solidFill>
          <a:ln w="9525">
            <a:solidFill>
              <a:srgbClr val="6E8C8A"/>
            </a:solidFill>
            <a:prstDash val="solid"/>
          </a:ln>
        </p:spPr>
      </p:sp>
      <p:sp>
        <p:nvSpPr>
          <p:cNvPr id="7" name="Text 7"/>
          <p:cNvSpPr/>
          <p:nvPr/>
        </p:nvSpPr>
        <p:spPr>
          <a:xfrm>
            <a:off x="658368" y="1161288"/>
            <a:ext cx="4779264" cy="462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HRA_RATE, DA_RATE, TA_RATE, PF_RATE = 0.20, 0.10, 0.05, 0.12</a:t>
            </a:r>
            <a:endParaRPr lang="en-US" sz="9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calculate_allowances(basic_salary):</a:t>
            </a:r>
            <a:endParaRPr lang="en-US" sz="9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hra = HRA_RATE * basic_salary</a:t>
            </a:r>
            <a:endParaRPr lang="en-US" sz="9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  = DA_RATE  * basic_salary</a:t>
            </a:r>
            <a:endParaRPr lang="en-US" sz="9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  = TA_RATE  * basic_salary</a:t>
            </a:r>
            <a:endParaRPr lang="en-US" sz="9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hra, da, ta</a:t>
            </a:r>
            <a:endParaRPr lang="en-US" sz="9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calculate_tax(gross_salary):</a:t>
            </a:r>
            <a:endParaRPr lang="en-US" sz="9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gross_salary &lt;= 25000:</a:t>
            </a:r>
            <a:endParaRPr lang="en-US" sz="9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0.0</a:t>
            </a:r>
            <a:endParaRPr lang="en-US" sz="9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 gross_salary &lt;= 50000:</a:t>
            </a:r>
            <a:endParaRPr lang="en-US" sz="9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0.05 * gross_salary</a:t>
            </a:r>
            <a:endParaRPr lang="en-US" sz="9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 gross_salary &lt;= 100000:</a:t>
            </a:r>
            <a:endParaRPr lang="en-US" sz="9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0.10 * gross_salary</a:t>
            </a:r>
            <a:endParaRPr lang="en-US" sz="9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9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0.20 * gross_salary</a:t>
            </a:r>
            <a:endParaRPr lang="en-US" sz="9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calculate_deductions(basic, gross, present, total):</a:t>
            </a:r>
            <a:endParaRPr lang="en-US" sz="9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pf      = PF_RATE * basic</a:t>
            </a:r>
            <a:endParaRPr lang="en-US" sz="9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tax     = calculate_tax(gross)</a:t>
            </a:r>
            <a:endParaRPr lang="en-US" sz="9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per_day = basic / total</a:t>
            </a:r>
            <a:endParaRPr lang="en-US" sz="9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absent  = (total - present) * per_day</a:t>
            </a:r>
            <a:endParaRPr lang="en-US" sz="9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pf, tax, absent</a:t>
            </a:r>
            <a:endParaRPr lang="en-US" sz="9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hra, da, ta      = calculate_allowances(basic)</a:t>
            </a:r>
            <a:endParaRPr lang="en-US" sz="9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gross            = basic + hra + da + ta</a:t>
            </a:r>
            <a:endParaRPr lang="en-US" sz="9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pf, tax, absent  = calculate_deductions(basic, gross,</a:t>
            </a:r>
            <a:endParaRPr lang="en-US" sz="9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 present, total)</a:t>
            </a:r>
            <a:endParaRPr lang="en-US" sz="9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              = gross - (pf + tax + absent)</a:t>
            </a:r>
            <a:endParaRPr lang="en-US" sz="900" dirty="0"/>
          </a:p>
        </p:txBody>
      </p:sp>
      <p:sp>
        <p:nvSpPr>
          <p:cNvPr id="8" name="Shape 8"/>
          <p:cNvSpPr/>
          <p:nvPr/>
        </p:nvSpPr>
        <p:spPr>
          <a:xfrm>
            <a:off x="5867400" y="1005840"/>
            <a:ext cx="2819400" cy="1554480"/>
          </a:xfrm>
          <a:prstGeom prst="roundRect">
            <a:avLst>
              <a:gd name="adj" fmla="val 4688"/>
            </a:avLst>
          </a:prstGeom>
          <a:solidFill>
            <a:srgbClr val="F2F4F4"/>
          </a:solidFill>
          <a:ln w="6350">
            <a:solidFill>
              <a:srgbClr val="6E8C8A"/>
            </a:solidFill>
            <a:prstDash val="solid"/>
          </a:ln>
        </p:spPr>
      </p:sp>
      <p:sp>
        <p:nvSpPr>
          <p:cNvPr id="9" name="Text 9"/>
          <p:cNvSpPr/>
          <p:nvPr/>
        </p:nvSpPr>
        <p:spPr>
          <a:xfrm>
            <a:off x="6050280" y="1097280"/>
            <a:ext cx="2453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13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calculation lives in its own</a:t>
            </a:r>
            <a:endParaRPr lang="en-US" sz="1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function, so the logic can be reused</a:t>
            </a:r>
            <a:endParaRPr lang="en-US" sz="1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tested on its own.</a:t>
            </a:r>
            <a:endParaRPr lang="en-US" sz="1100" dirty="0"/>
          </a:p>
        </p:txBody>
      </p:sp>
      <p:sp>
        <p:nvSpPr>
          <p:cNvPr id="10" name="Shape 10"/>
          <p:cNvSpPr/>
          <p:nvPr/>
        </p:nvSpPr>
        <p:spPr>
          <a:xfrm>
            <a:off x="5867400" y="2697480"/>
            <a:ext cx="2819400" cy="1554480"/>
          </a:xfrm>
          <a:prstGeom prst="roundRect">
            <a:avLst>
              <a:gd name="adj" fmla="val 4688"/>
            </a:avLst>
          </a:prstGeom>
          <a:solidFill>
            <a:srgbClr val="F2F4F4"/>
          </a:solidFill>
          <a:ln w="6350">
            <a:solidFill>
              <a:srgbClr val="6E8C8A"/>
            </a:solidFill>
            <a:prstDash val="solid"/>
          </a:ln>
        </p:spPr>
      </p:sp>
      <p:sp>
        <p:nvSpPr>
          <p:cNvPr id="11" name="Text 11"/>
          <p:cNvSpPr/>
          <p:nvPr/>
        </p:nvSpPr>
        <p:spPr>
          <a:xfrm>
            <a:off x="6050280" y="2788920"/>
            <a:ext cx="2453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if-elif-else</a:t>
            </a:r>
            <a:endParaRPr lang="en-US" sz="13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tax is charged slab-wise on the</a:t>
            </a:r>
            <a:endParaRPr lang="en-US" sz="1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salary; the else branch covers</a:t>
            </a:r>
            <a:endParaRPr lang="en-US" sz="1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highest slab.</a:t>
            </a:r>
            <a:endParaRPr lang="en-US" sz="1100" dirty="0"/>
          </a:p>
        </p:txBody>
      </p:sp>
      <p:sp>
        <p:nvSpPr>
          <p:cNvPr id="12" name="Shape 12"/>
          <p:cNvSpPr/>
          <p:nvPr/>
        </p:nvSpPr>
        <p:spPr>
          <a:xfrm>
            <a:off x="5867400" y="4389120"/>
            <a:ext cx="2819400" cy="1554480"/>
          </a:xfrm>
          <a:prstGeom prst="roundRect">
            <a:avLst>
              <a:gd name="adj" fmla="val 4688"/>
            </a:avLst>
          </a:prstGeom>
          <a:solidFill>
            <a:srgbClr val="F2F4F4"/>
          </a:solidFill>
          <a:ln w="6350">
            <a:solidFill>
              <a:srgbClr val="6E8C8A"/>
            </a:solidFill>
            <a:prstDash val="solid"/>
          </a:ln>
        </p:spPr>
      </p:sp>
      <p:sp>
        <p:nvSpPr>
          <p:cNvPr id="13" name="Text 13"/>
          <p:cNvSpPr/>
          <p:nvPr/>
        </p:nvSpPr>
        <p:spPr>
          <a:xfrm>
            <a:off x="6050280" y="4480560"/>
            <a:ext cx="2453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 return</a:t>
            </a:r>
            <a:endParaRPr lang="en-US" sz="13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values are returned together</a:t>
            </a:r>
            <a:endParaRPr lang="en-US" sz="1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unpacked into named variables in</a:t>
            </a:r>
            <a:endParaRPr lang="en-US" sz="1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statement.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 Code Fi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137160" y="137160"/>
            <a:ext cx="8869680" cy="6583680"/>
          </a:xfrm>
          <a:prstGeom prst="rect">
            <a:avLst/>
          </a:prstGeom>
          <a:noFill/>
          <a:ln w="19050">
            <a:solidFill>
              <a:srgbClr val="6E8C8A"/>
            </a:solidFill>
            <a:prstDash val="solid"/>
          </a:ln>
        </p:spPr>
      </p:sp>
      <p:sp>
        <p:nvSpPr>
          <p:cNvPr id="3" name="Shape 3"/>
          <p:cNvSpPr/>
          <p:nvPr/>
        </p:nvSpPr>
        <p:spPr>
          <a:xfrm>
            <a:off x="137160" y="6355080"/>
            <a:ext cx="8869680" cy="365760"/>
          </a:xfrm>
          <a:prstGeom prst="rect">
            <a:avLst/>
          </a:prstGeom>
          <a:solidFill>
            <a:srgbClr val="8FADAB"/>
          </a:solidFill>
          <a:ln/>
        </p:spPr>
      </p:sp>
      <p:sp>
        <p:nvSpPr>
          <p:cNvPr id="4" name="Text 4"/>
          <p:cNvSpPr/>
          <p:nvPr/>
        </p:nvSpPr>
        <p:spPr>
          <a:xfrm>
            <a:off x="320040" y="635508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B. Jain Institute of Technology Management and Research</a:t>
            </a:r>
            <a:endParaRPr lang="en-US" sz="1200" dirty="0"/>
          </a:p>
        </p:txBody>
      </p:sp>
      <p:sp>
        <p:nvSpPr>
          <p:cNvPr id="5" name="Text 5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 – File and Exception Handling</a:t>
            </a:r>
            <a:endParaRPr lang="en-US" sz="3000" dirty="0"/>
          </a:p>
        </p:txBody>
      </p:sp>
      <p:sp>
        <p:nvSpPr>
          <p:cNvPr id="6" name="Shape 6"/>
          <p:cNvSpPr/>
          <p:nvPr/>
        </p:nvSpPr>
        <p:spPr>
          <a:xfrm>
            <a:off x="457200" y="1005840"/>
            <a:ext cx="5181600" cy="4937760"/>
          </a:xfrm>
          <a:prstGeom prst="roundRect">
            <a:avLst>
              <a:gd name="adj" fmla="val 1081"/>
            </a:avLst>
          </a:prstGeom>
          <a:solidFill>
            <a:srgbClr val="F2F4F4"/>
          </a:solidFill>
          <a:ln w="9525">
            <a:solidFill>
              <a:srgbClr val="6E8C8A"/>
            </a:solidFill>
            <a:prstDash val="solid"/>
          </a:ln>
        </p:spPr>
      </p:sp>
      <p:sp>
        <p:nvSpPr>
          <p:cNvPr id="7" name="Text 7"/>
          <p:cNvSpPr/>
          <p:nvPr/>
        </p:nvSpPr>
        <p:spPr>
          <a:xfrm>
            <a:off x="658368" y="1161288"/>
            <a:ext cx="4779264" cy="462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DATA_FILE = "employees.txt"</a:t>
            </a:r>
            <a:endParaRPr lang="en-US" sz="9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save_to_file(emp_id, record):</a:t>
            </a:r>
            <a:endParaRPr lang="en-US" sz="9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try:</a:t>
            </a:r>
            <a:endParaRPr lang="en-US" sz="9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with open(DATA_FILE, "a") as f:</a:t>
            </a:r>
            <a:endParaRPr lang="en-US" sz="9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f.write("{},{},{:.2f},{:.2f},{:.2f}\n".format(</a:t>
            </a:r>
            <a:endParaRPr lang="en-US" sz="9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emp_id, record["name"], record["basic"],</a:t>
            </a:r>
            <a:endParaRPr lang="en-US" sz="9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record["gross"], record["net"]))</a:t>
            </a:r>
            <a:endParaRPr lang="en-US" sz="9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except IOError as e:</a:t>
            </a:r>
            <a:endParaRPr lang="en-US" sz="9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print("File write error:", e)</a:t>
            </a:r>
            <a:endParaRPr lang="en-US" sz="9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load_from_file():</a:t>
            </a:r>
            <a:endParaRPr lang="en-US" sz="9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not os.path.exists(DATA_FILE):</a:t>
            </a:r>
            <a:endParaRPr lang="en-US" sz="9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</a:t>
            </a:r>
            <a:endParaRPr lang="en-US" sz="9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with open(DATA_FILE, "r") as f:</a:t>
            </a:r>
            <a:endParaRPr lang="en-US" sz="9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line in f:</a:t>
            </a:r>
            <a:endParaRPr lang="en-US" sz="9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parts = line.strip().split(",")</a:t>
            </a:r>
            <a:endParaRPr lang="en-US" sz="9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len(parts) == 5:</a:t>
            </a:r>
            <a:endParaRPr lang="en-US" sz="9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employees[parts[0]] = {</a:t>
            </a:r>
            <a:endParaRPr lang="en-US" sz="9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"name":  parts[1],</a:t>
            </a:r>
            <a:endParaRPr lang="en-US" sz="9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"basic": float(parts[2]),</a:t>
            </a:r>
            <a:endParaRPr lang="en-US" sz="9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"gross": float(parts[3]),</a:t>
            </a:r>
            <a:endParaRPr lang="en-US" sz="9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"net":   float(parts[4])}</a:t>
            </a:r>
            <a:endParaRPr lang="en-US" sz="9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try:</a:t>
            </a:r>
            <a:endParaRPr lang="en-US" sz="9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basic = float(input("Enter Basic Salary: "))</a:t>
            </a:r>
            <a:endParaRPr lang="en-US" sz="9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basic &lt;= 0:</a:t>
            </a:r>
            <a:endParaRPr lang="en-US" sz="9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raise ValueError("Salary must be positive.")</a:t>
            </a:r>
            <a:endParaRPr lang="en-US" sz="9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 ValueError as e:</a:t>
            </a:r>
            <a:endParaRPr lang="en-US" sz="9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print("Invalid input:", e)</a:t>
            </a:r>
            <a:endParaRPr lang="en-US" sz="900" dirty="0"/>
          </a:p>
        </p:txBody>
      </p:sp>
      <p:sp>
        <p:nvSpPr>
          <p:cNvPr id="8" name="Shape 8"/>
          <p:cNvSpPr/>
          <p:nvPr/>
        </p:nvSpPr>
        <p:spPr>
          <a:xfrm>
            <a:off x="5867400" y="1005840"/>
            <a:ext cx="2819400" cy="1554480"/>
          </a:xfrm>
          <a:prstGeom prst="roundRect">
            <a:avLst>
              <a:gd name="adj" fmla="val 4688"/>
            </a:avLst>
          </a:prstGeom>
          <a:solidFill>
            <a:srgbClr val="F2F4F4"/>
          </a:solidFill>
          <a:ln w="6350">
            <a:solidFill>
              <a:srgbClr val="6E8C8A"/>
            </a:solidFill>
            <a:prstDash val="solid"/>
          </a:ln>
        </p:spPr>
      </p:sp>
      <p:sp>
        <p:nvSpPr>
          <p:cNvPr id="9" name="Text 9"/>
          <p:cNvSpPr/>
          <p:nvPr/>
        </p:nvSpPr>
        <p:spPr>
          <a:xfrm>
            <a:off x="6050280" y="1097280"/>
            <a:ext cx="2453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handling</a:t>
            </a:r>
            <a:endParaRPr lang="en-US" sz="13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open(...) guarantees the file is</a:t>
            </a:r>
            <a:endParaRPr lang="en-US" sz="1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closed, and records survive between</a:t>
            </a:r>
            <a:endParaRPr lang="en-US" sz="1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runs.</a:t>
            </a:r>
            <a:endParaRPr lang="en-US" sz="1100" dirty="0"/>
          </a:p>
        </p:txBody>
      </p:sp>
      <p:sp>
        <p:nvSpPr>
          <p:cNvPr id="10" name="Shape 10"/>
          <p:cNvSpPr/>
          <p:nvPr/>
        </p:nvSpPr>
        <p:spPr>
          <a:xfrm>
            <a:off x="5867400" y="2697480"/>
            <a:ext cx="2819400" cy="1554480"/>
          </a:xfrm>
          <a:prstGeom prst="roundRect">
            <a:avLst>
              <a:gd name="adj" fmla="val 4688"/>
            </a:avLst>
          </a:prstGeom>
          <a:solidFill>
            <a:srgbClr val="F2F4F4"/>
          </a:solidFill>
          <a:ln w="6350">
            <a:solidFill>
              <a:srgbClr val="6E8C8A"/>
            </a:solidFill>
            <a:prstDash val="solid"/>
          </a:ln>
        </p:spPr>
      </p:sp>
      <p:sp>
        <p:nvSpPr>
          <p:cNvPr id="11" name="Text 11"/>
          <p:cNvSpPr/>
          <p:nvPr/>
        </p:nvSpPr>
        <p:spPr>
          <a:xfrm>
            <a:off x="6050280" y="2788920"/>
            <a:ext cx="2453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handling</a:t>
            </a:r>
            <a:endParaRPr lang="en-US" sz="13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try-except keeps the program alive on</a:t>
            </a:r>
            <a:endParaRPr lang="en-US" sz="1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input instead of terminating with</a:t>
            </a:r>
            <a:endParaRPr lang="en-US" sz="1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traceback.</a:t>
            </a:r>
            <a:endParaRPr lang="en-US" sz="1100" dirty="0"/>
          </a:p>
        </p:txBody>
      </p:sp>
      <p:sp>
        <p:nvSpPr>
          <p:cNvPr id="12" name="Shape 12"/>
          <p:cNvSpPr/>
          <p:nvPr/>
        </p:nvSpPr>
        <p:spPr>
          <a:xfrm>
            <a:off x="5867400" y="4389120"/>
            <a:ext cx="2819400" cy="1554480"/>
          </a:xfrm>
          <a:prstGeom prst="roundRect">
            <a:avLst>
              <a:gd name="adj" fmla="val 4688"/>
            </a:avLst>
          </a:prstGeom>
          <a:solidFill>
            <a:srgbClr val="F2F4F4"/>
          </a:solidFill>
          <a:ln w="6350">
            <a:solidFill>
              <a:srgbClr val="6E8C8A"/>
            </a:solidFill>
            <a:prstDash val="solid"/>
          </a:ln>
        </p:spPr>
      </p:sp>
      <p:sp>
        <p:nvSpPr>
          <p:cNvPr id="13" name="Text 13"/>
          <p:cNvSpPr/>
          <p:nvPr/>
        </p:nvSpPr>
        <p:spPr>
          <a:xfrm>
            <a:off x="6050280" y="4480560"/>
            <a:ext cx="2453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</a:t>
            </a:r>
            <a:endParaRPr lang="en-US" sz="13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are keyed by employee ID, so</a:t>
            </a:r>
            <a:endParaRPr lang="en-US" sz="1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and update are immediate</a:t>
            </a:r>
            <a:endParaRPr lang="en-US" sz="1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scanning a list.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ample Outpu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137160" y="137160"/>
            <a:ext cx="8869680" cy="6583680"/>
          </a:xfrm>
          <a:prstGeom prst="rect">
            <a:avLst/>
          </a:prstGeom>
          <a:noFill/>
          <a:ln w="19050">
            <a:solidFill>
              <a:srgbClr val="6E8C8A"/>
            </a:solidFill>
            <a:prstDash val="solid"/>
          </a:ln>
        </p:spPr>
      </p:sp>
      <p:sp>
        <p:nvSpPr>
          <p:cNvPr id="3" name="Shape 3"/>
          <p:cNvSpPr/>
          <p:nvPr/>
        </p:nvSpPr>
        <p:spPr>
          <a:xfrm>
            <a:off x="137160" y="6355080"/>
            <a:ext cx="8869680" cy="365760"/>
          </a:xfrm>
          <a:prstGeom prst="rect">
            <a:avLst/>
          </a:prstGeom>
          <a:solidFill>
            <a:srgbClr val="8FADAB"/>
          </a:solidFill>
          <a:ln/>
        </p:spPr>
      </p:sp>
      <p:sp>
        <p:nvSpPr>
          <p:cNvPr id="4" name="Text 4"/>
          <p:cNvSpPr/>
          <p:nvPr/>
        </p:nvSpPr>
        <p:spPr>
          <a:xfrm>
            <a:off x="320040" y="635508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B. Jain Institute of Technology Management and Research</a:t>
            </a:r>
            <a:endParaRPr lang="en-US" sz="1200" dirty="0"/>
          </a:p>
        </p:txBody>
      </p:sp>
      <p:sp>
        <p:nvSpPr>
          <p:cNvPr id="5" name="Text 5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 – Generated Payslip</a:t>
            </a:r>
            <a:endParaRPr lang="en-US" sz="3000" dirty="0"/>
          </a:p>
        </p:txBody>
      </p:sp>
      <p:sp>
        <p:nvSpPr>
          <p:cNvPr id="6" name="Text 6"/>
          <p:cNvSpPr/>
          <p:nvPr/>
        </p:nvSpPr>
        <p:spPr>
          <a:xfrm>
            <a:off x="457200" y="1005840"/>
            <a:ext cx="40005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and data entry</a:t>
            </a:r>
            <a:endParaRPr lang="en-US" sz="1250" dirty="0"/>
          </a:p>
        </p:txBody>
      </p:sp>
      <p:sp>
        <p:nvSpPr>
          <p:cNvPr id="7" name="Text 7"/>
          <p:cNvSpPr/>
          <p:nvPr/>
        </p:nvSpPr>
        <p:spPr>
          <a:xfrm>
            <a:off x="4686300" y="1005840"/>
            <a:ext cx="40005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payslip</a:t>
            </a:r>
            <a:endParaRPr lang="en-US" sz="1250" dirty="0"/>
          </a:p>
        </p:txBody>
      </p:sp>
      <p:sp>
        <p:nvSpPr>
          <p:cNvPr id="8" name="Shape 8"/>
          <p:cNvSpPr/>
          <p:nvPr/>
        </p:nvSpPr>
        <p:spPr>
          <a:xfrm>
            <a:off x="457200" y="1280160"/>
            <a:ext cx="4000500" cy="3474720"/>
          </a:xfrm>
          <a:prstGeom prst="roundRect">
            <a:avLst>
              <a:gd name="adj" fmla="val 1081"/>
            </a:avLst>
          </a:prstGeom>
          <a:solidFill>
            <a:srgbClr val="F2F4F4"/>
          </a:solidFill>
          <a:ln w="9525">
            <a:solidFill>
              <a:srgbClr val="6E8C8A"/>
            </a:solidFill>
            <a:prstDash val="solid"/>
          </a:ln>
        </p:spPr>
      </p:sp>
      <p:sp>
        <p:nvSpPr>
          <p:cNvPr id="9" name="Text 9"/>
          <p:cNvSpPr/>
          <p:nvPr/>
        </p:nvSpPr>
        <p:spPr>
          <a:xfrm>
            <a:off x="658368" y="1435608"/>
            <a:ext cx="3598164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 PAYROLL MANAGEMENT SYSTEM =====</a:t>
            </a:r>
            <a:endParaRPr lang="en-US" sz="9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Add Employee</a:t>
            </a:r>
            <a:endParaRPr lang="en-US" sz="9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Display All Employees</a:t>
            </a:r>
            <a:endParaRPr lang="en-US" sz="9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Search Employee</a:t>
            </a:r>
            <a:endParaRPr lang="en-US" sz="9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Generate Payslip</a:t>
            </a:r>
            <a:endParaRPr lang="en-US" sz="9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Exit</a:t>
            </a:r>
            <a:endParaRPr lang="en-US" sz="9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your choice: 1</a:t>
            </a:r>
            <a:endParaRPr lang="en-US" sz="9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Employee ID      : E101</a:t>
            </a:r>
            <a:endParaRPr lang="en-US" sz="9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Employee Name    : Tejal Hedau</a:t>
            </a:r>
            <a:endParaRPr lang="en-US" sz="9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Basic Salary     : 40000</a:t>
            </a:r>
            <a:endParaRPr lang="en-US" sz="9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Working Days     : 26</a:t>
            </a:r>
            <a:endParaRPr lang="en-US" sz="9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Days Present           : 24</a:t>
            </a:r>
            <a:endParaRPr lang="en-US" sz="9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 record added successfully.</a:t>
            </a:r>
            <a:endParaRPr lang="en-US" sz="900" dirty="0"/>
          </a:p>
        </p:txBody>
      </p:sp>
      <p:sp>
        <p:nvSpPr>
          <p:cNvPr id="10" name="Shape 10"/>
          <p:cNvSpPr/>
          <p:nvPr/>
        </p:nvSpPr>
        <p:spPr>
          <a:xfrm>
            <a:off x="4686300" y="1280160"/>
            <a:ext cx="4000500" cy="3474720"/>
          </a:xfrm>
          <a:prstGeom prst="roundRect">
            <a:avLst>
              <a:gd name="adj" fmla="val 1081"/>
            </a:avLst>
          </a:prstGeom>
          <a:solidFill>
            <a:srgbClr val="F2F4F4"/>
          </a:solidFill>
          <a:ln w="9525">
            <a:solidFill>
              <a:srgbClr val="6E8C8A"/>
            </a:solidFill>
            <a:prstDash val="solid"/>
          </a:ln>
        </p:spPr>
      </p:sp>
      <p:sp>
        <p:nvSpPr>
          <p:cNvPr id="11" name="Text 11"/>
          <p:cNvSpPr/>
          <p:nvPr/>
        </p:nvSpPr>
        <p:spPr>
          <a:xfrm>
            <a:off x="4887468" y="1435608"/>
            <a:ext cx="3598164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==============================================</a:t>
            </a:r>
            <a:endParaRPr lang="en-US" sz="9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EMPLOYEE PAYSLIP</a:t>
            </a:r>
            <a:endParaRPr lang="en-US" sz="9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==============================================</a:t>
            </a:r>
            <a:endParaRPr lang="en-US" sz="9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 ID    : E101</a:t>
            </a:r>
            <a:endParaRPr lang="en-US" sz="9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 Name  : Tejal Hedau</a:t>
            </a:r>
            <a:endParaRPr lang="en-US" sz="9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Attendance     : 24 / 26 days</a:t>
            </a:r>
            <a:endParaRPr lang="en-US" sz="9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----------------------------------------------</a:t>
            </a:r>
            <a:endParaRPr lang="en-US" sz="9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Basic Salary   :     40000.00</a:t>
            </a:r>
            <a:endParaRPr lang="en-US" sz="9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HRA (20%)      :      8000.00</a:t>
            </a:r>
            <a:endParaRPr lang="en-US" sz="9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  (10%)      :      4000.00</a:t>
            </a:r>
            <a:endParaRPr lang="en-US" sz="9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  (5%)       :      2000.00</a:t>
            </a:r>
            <a:endParaRPr lang="en-US" sz="9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Gross Salary   :     54000.00</a:t>
            </a:r>
            <a:endParaRPr lang="en-US" sz="9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----------------------------------------------</a:t>
            </a:r>
            <a:endParaRPr lang="en-US" sz="9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PF  (12%)      :      4800.00</a:t>
            </a:r>
            <a:endParaRPr lang="en-US" sz="9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Income Tax     :      5400.00</a:t>
            </a:r>
            <a:endParaRPr lang="en-US" sz="9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Absent Days    :      3076.92</a:t>
            </a:r>
            <a:endParaRPr lang="en-US" sz="9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Deduction:     13276.92</a:t>
            </a:r>
            <a:endParaRPr lang="en-US" sz="9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----------------------------------------------</a:t>
            </a:r>
            <a:endParaRPr lang="en-US" sz="9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 SALARY     :     40723.08</a:t>
            </a:r>
            <a:endParaRPr lang="en-US" sz="9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==============================================</a:t>
            </a:r>
            <a:endParaRPr lang="en-US" sz="900" dirty="0"/>
          </a:p>
        </p:txBody>
      </p:sp>
      <p:sp>
        <p:nvSpPr>
          <p:cNvPr id="12" name="Shape 12"/>
          <p:cNvSpPr/>
          <p:nvPr/>
        </p:nvSpPr>
        <p:spPr>
          <a:xfrm>
            <a:off x="457200" y="4937760"/>
            <a:ext cx="8229600" cy="914400"/>
          </a:xfrm>
          <a:prstGeom prst="roundRect">
            <a:avLst>
              <a:gd name="adj" fmla="val 4688"/>
            </a:avLst>
          </a:prstGeom>
          <a:solidFill>
            <a:srgbClr val="F2F4F4"/>
          </a:solidFill>
          <a:ln w="6350">
            <a:solidFill>
              <a:srgbClr val="6E8C8A"/>
            </a:solidFill>
            <a:prstDash val="solid"/>
          </a:ln>
        </p:spPr>
      </p:sp>
      <p:sp>
        <p:nvSpPr>
          <p:cNvPr id="13" name="Text 13"/>
          <p:cNvSpPr/>
          <p:nvPr/>
        </p:nvSpPr>
        <p:spPr>
          <a:xfrm>
            <a:off x="640080" y="50292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against manual calculation</a:t>
            </a:r>
            <a:endParaRPr lang="en-US" sz="13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Salary  = 40000 + 8000 + 4000 + 2000 = Rs. 54,000.00</a:t>
            </a:r>
            <a:endParaRPr lang="en-US" sz="1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Deductions    = 4800 (PF) + 5400 (tax) + 3076.92 (2 absent days) = Rs. 13,276.92</a:t>
            </a:r>
            <a:endParaRPr lang="en-US" sz="1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Salary    = 54000.00 - 13276.92 = Rs. 40,723.08  (matches the program output)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esting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137160" y="137160"/>
            <a:ext cx="8869680" cy="6583680"/>
          </a:xfrm>
          <a:prstGeom prst="rect">
            <a:avLst/>
          </a:prstGeom>
          <a:noFill/>
          <a:ln w="19050">
            <a:solidFill>
              <a:srgbClr val="6E8C8A"/>
            </a:solidFill>
            <a:prstDash val="solid"/>
          </a:ln>
        </p:spPr>
      </p:sp>
      <p:sp>
        <p:nvSpPr>
          <p:cNvPr id="3" name="Shape 3"/>
          <p:cNvSpPr/>
          <p:nvPr/>
        </p:nvSpPr>
        <p:spPr>
          <a:xfrm>
            <a:off x="137160" y="6355080"/>
            <a:ext cx="8869680" cy="365760"/>
          </a:xfrm>
          <a:prstGeom prst="rect">
            <a:avLst/>
          </a:prstGeom>
          <a:solidFill>
            <a:srgbClr val="8FADAB"/>
          </a:solidFill>
          <a:ln/>
        </p:spPr>
      </p:sp>
      <p:sp>
        <p:nvSpPr>
          <p:cNvPr id="4" name="Text 4"/>
          <p:cNvSpPr/>
          <p:nvPr/>
        </p:nvSpPr>
        <p:spPr>
          <a:xfrm>
            <a:off x="320040" y="635508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B. Jain Institute of Technology Management and Research</a:t>
            </a:r>
            <a:endParaRPr lang="en-US" sz="1200" dirty="0"/>
          </a:p>
        </p:txBody>
      </p:sp>
      <p:sp>
        <p:nvSpPr>
          <p:cNvPr id="5" name="Text 5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and Validation</a:t>
            </a:r>
            <a:endParaRPr lang="en-US" sz="3000" dirty="0"/>
          </a:p>
        </p:txBody>
      </p:sp>
      <p:sp>
        <p:nvSpPr>
          <p:cNvPr id="6" name="Shape 6"/>
          <p:cNvSpPr/>
          <p:nvPr/>
        </p:nvSpPr>
        <p:spPr>
          <a:xfrm>
            <a:off x="457200" y="1097280"/>
            <a:ext cx="2194560" cy="411480"/>
          </a:xfrm>
          <a:prstGeom prst="rect">
            <a:avLst/>
          </a:prstGeom>
          <a:solidFill>
            <a:srgbClr val="6E8C8A"/>
          </a:solidFill>
          <a:ln w="6350">
            <a:solidFill>
              <a:srgbClr val="6E8C8A"/>
            </a:solidFill>
            <a:prstDash val="solid"/>
          </a:ln>
        </p:spPr>
      </p:sp>
      <p:sp>
        <p:nvSpPr>
          <p:cNvPr id="7" name="Text 7"/>
          <p:cNvSpPr/>
          <p:nvPr/>
        </p:nvSpPr>
        <p:spPr>
          <a:xfrm>
            <a:off x="548640" y="1097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</a:t>
            </a:r>
            <a:endParaRPr lang="en-US" sz="1150" dirty="0"/>
          </a:p>
        </p:txBody>
      </p:sp>
      <p:sp>
        <p:nvSpPr>
          <p:cNvPr id="8" name="Shape 8"/>
          <p:cNvSpPr/>
          <p:nvPr/>
        </p:nvSpPr>
        <p:spPr>
          <a:xfrm>
            <a:off x="2651760" y="1097280"/>
            <a:ext cx="1920240" cy="411480"/>
          </a:xfrm>
          <a:prstGeom prst="rect">
            <a:avLst/>
          </a:prstGeom>
          <a:solidFill>
            <a:srgbClr val="6E8C8A"/>
          </a:solidFill>
          <a:ln w="6350">
            <a:solidFill>
              <a:srgbClr val="6E8C8A"/>
            </a:solidFill>
            <a:prstDash val="solid"/>
          </a:ln>
        </p:spPr>
      </p:sp>
      <p:sp>
        <p:nvSpPr>
          <p:cNvPr id="9" name="Text 9"/>
          <p:cNvSpPr/>
          <p:nvPr/>
        </p:nvSpPr>
        <p:spPr>
          <a:xfrm>
            <a:off x="2743200" y="10972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Given</a:t>
            </a:r>
            <a:endParaRPr lang="en-US" sz="1150" dirty="0"/>
          </a:p>
        </p:txBody>
      </p:sp>
      <p:sp>
        <p:nvSpPr>
          <p:cNvPr id="10" name="Shape 10"/>
          <p:cNvSpPr/>
          <p:nvPr/>
        </p:nvSpPr>
        <p:spPr>
          <a:xfrm>
            <a:off x="4572000" y="1097280"/>
            <a:ext cx="2560320" cy="411480"/>
          </a:xfrm>
          <a:prstGeom prst="rect">
            <a:avLst/>
          </a:prstGeom>
          <a:solidFill>
            <a:srgbClr val="6E8C8A"/>
          </a:solidFill>
          <a:ln w="6350">
            <a:solidFill>
              <a:srgbClr val="6E8C8A"/>
            </a:solidFill>
            <a:prstDash val="solid"/>
          </a:ln>
        </p:spPr>
      </p:sp>
      <p:sp>
        <p:nvSpPr>
          <p:cNvPr id="11" name="Text 11"/>
          <p:cNvSpPr/>
          <p:nvPr/>
        </p:nvSpPr>
        <p:spPr>
          <a:xfrm>
            <a:off x="4663440" y="10972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Behaviour</a:t>
            </a:r>
            <a:endParaRPr lang="en-US" sz="1150" dirty="0"/>
          </a:p>
        </p:txBody>
      </p:sp>
      <p:sp>
        <p:nvSpPr>
          <p:cNvPr id="12" name="Shape 12"/>
          <p:cNvSpPr/>
          <p:nvPr/>
        </p:nvSpPr>
        <p:spPr>
          <a:xfrm>
            <a:off x="7132320" y="1097280"/>
            <a:ext cx="1554480" cy="411480"/>
          </a:xfrm>
          <a:prstGeom prst="rect">
            <a:avLst/>
          </a:prstGeom>
          <a:solidFill>
            <a:srgbClr val="6E8C8A"/>
          </a:solidFill>
          <a:ln w="6350">
            <a:solidFill>
              <a:srgbClr val="6E8C8A"/>
            </a:solidFill>
            <a:prstDash val="solid"/>
          </a:ln>
        </p:spPr>
      </p:sp>
      <p:sp>
        <p:nvSpPr>
          <p:cNvPr id="13" name="Text 13"/>
          <p:cNvSpPr/>
          <p:nvPr/>
        </p:nvSpPr>
        <p:spPr>
          <a:xfrm>
            <a:off x="7223760" y="10972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50" dirty="0"/>
          </a:p>
        </p:txBody>
      </p:sp>
      <p:sp>
        <p:nvSpPr>
          <p:cNvPr id="14" name="Shape 14"/>
          <p:cNvSpPr/>
          <p:nvPr/>
        </p:nvSpPr>
        <p:spPr>
          <a:xfrm>
            <a:off x="457200" y="1508760"/>
            <a:ext cx="2194560" cy="411480"/>
          </a:xfrm>
          <a:prstGeom prst="rect">
            <a:avLst/>
          </a:prstGeom>
          <a:solidFill>
            <a:srgbClr val="F2F4F4"/>
          </a:solidFill>
          <a:ln w="6350">
            <a:solidFill>
              <a:srgbClr val="6E8C8A"/>
            </a:solidFill>
            <a:prstDash val="solid"/>
          </a:ln>
        </p:spPr>
      </p:sp>
      <p:sp>
        <p:nvSpPr>
          <p:cNvPr id="15" name="Text 15"/>
          <p:cNvSpPr/>
          <p:nvPr/>
        </p:nvSpPr>
        <p:spPr>
          <a:xfrm>
            <a:off x="548640" y="15087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employee record</a:t>
            </a:r>
            <a:endParaRPr lang="en-US" sz="1050" dirty="0"/>
          </a:p>
        </p:txBody>
      </p:sp>
      <p:sp>
        <p:nvSpPr>
          <p:cNvPr id="16" name="Shape 16"/>
          <p:cNvSpPr/>
          <p:nvPr/>
        </p:nvSpPr>
        <p:spPr>
          <a:xfrm>
            <a:off x="2651760" y="1508760"/>
            <a:ext cx="1920240" cy="411480"/>
          </a:xfrm>
          <a:prstGeom prst="rect">
            <a:avLst/>
          </a:prstGeom>
          <a:solidFill>
            <a:srgbClr val="F2F4F4"/>
          </a:solidFill>
          <a:ln w="6350">
            <a:solidFill>
              <a:srgbClr val="6E8C8A"/>
            </a:solidFill>
            <a:prstDash val="solid"/>
          </a:ln>
        </p:spPr>
      </p:sp>
      <p:sp>
        <p:nvSpPr>
          <p:cNvPr id="17" name="Text 17"/>
          <p:cNvSpPr/>
          <p:nvPr/>
        </p:nvSpPr>
        <p:spPr>
          <a:xfrm>
            <a:off x="2743200" y="15087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40000, 24 of 26 days</a:t>
            </a:r>
            <a:endParaRPr lang="en-US" sz="1050" dirty="0"/>
          </a:p>
        </p:txBody>
      </p:sp>
      <p:sp>
        <p:nvSpPr>
          <p:cNvPr id="18" name="Shape 18"/>
          <p:cNvSpPr/>
          <p:nvPr/>
        </p:nvSpPr>
        <p:spPr>
          <a:xfrm>
            <a:off x="4572000" y="1508760"/>
            <a:ext cx="2560320" cy="411480"/>
          </a:xfrm>
          <a:prstGeom prst="rect">
            <a:avLst/>
          </a:prstGeom>
          <a:solidFill>
            <a:srgbClr val="F2F4F4"/>
          </a:solidFill>
          <a:ln w="6350">
            <a:solidFill>
              <a:srgbClr val="6E8C8A"/>
            </a:solidFill>
            <a:prstDash val="solid"/>
          </a:ln>
        </p:spPr>
      </p:sp>
      <p:sp>
        <p:nvSpPr>
          <p:cNvPr id="19" name="Text 19"/>
          <p:cNvSpPr/>
          <p:nvPr/>
        </p:nvSpPr>
        <p:spPr>
          <a:xfrm>
            <a:off x="4663440" y="15087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salary 40723.08</a:t>
            </a:r>
            <a:endParaRPr lang="en-US" sz="1050" dirty="0"/>
          </a:p>
        </p:txBody>
      </p:sp>
      <p:sp>
        <p:nvSpPr>
          <p:cNvPr id="20" name="Shape 20"/>
          <p:cNvSpPr/>
          <p:nvPr/>
        </p:nvSpPr>
        <p:spPr>
          <a:xfrm>
            <a:off x="7132320" y="1508760"/>
            <a:ext cx="1554480" cy="411480"/>
          </a:xfrm>
          <a:prstGeom prst="rect">
            <a:avLst/>
          </a:prstGeom>
          <a:solidFill>
            <a:srgbClr val="F2F4F4"/>
          </a:solidFill>
          <a:ln w="6350">
            <a:solidFill>
              <a:srgbClr val="6E8C8A"/>
            </a:solidFill>
            <a:prstDash val="solid"/>
          </a:ln>
        </p:spPr>
      </p:sp>
      <p:sp>
        <p:nvSpPr>
          <p:cNvPr id="21" name="Text 21"/>
          <p:cNvSpPr/>
          <p:nvPr/>
        </p:nvSpPr>
        <p:spPr>
          <a:xfrm>
            <a:off x="7223760" y="15087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F6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50" dirty="0"/>
          </a:p>
        </p:txBody>
      </p:sp>
      <p:sp>
        <p:nvSpPr>
          <p:cNvPr id="22" name="Shape 22"/>
          <p:cNvSpPr/>
          <p:nvPr/>
        </p:nvSpPr>
        <p:spPr>
          <a:xfrm>
            <a:off x="457200" y="1920240"/>
            <a:ext cx="21945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6E8C8A"/>
            </a:solidFill>
            <a:prstDash val="solid"/>
          </a:ln>
        </p:spPr>
      </p:sp>
      <p:sp>
        <p:nvSpPr>
          <p:cNvPr id="23" name="Text 23"/>
          <p:cNvSpPr/>
          <p:nvPr/>
        </p:nvSpPr>
        <p:spPr>
          <a:xfrm>
            <a:off x="548640" y="19202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attendance</a:t>
            </a:r>
            <a:endParaRPr lang="en-US" sz="1050" dirty="0"/>
          </a:p>
        </p:txBody>
      </p:sp>
      <p:sp>
        <p:nvSpPr>
          <p:cNvPr id="24" name="Shape 24"/>
          <p:cNvSpPr/>
          <p:nvPr/>
        </p:nvSpPr>
        <p:spPr>
          <a:xfrm>
            <a:off x="2651760" y="1920240"/>
            <a:ext cx="19202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6E8C8A"/>
            </a:solidFill>
            <a:prstDash val="solid"/>
          </a:ln>
        </p:spPr>
      </p:sp>
      <p:sp>
        <p:nvSpPr>
          <p:cNvPr id="25" name="Text 25"/>
          <p:cNvSpPr/>
          <p:nvPr/>
        </p:nvSpPr>
        <p:spPr>
          <a:xfrm>
            <a:off x="2743200" y="19202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40000, 26 of 26 days</a:t>
            </a:r>
            <a:endParaRPr lang="en-US" sz="1050" dirty="0"/>
          </a:p>
        </p:txBody>
      </p:sp>
      <p:sp>
        <p:nvSpPr>
          <p:cNvPr id="26" name="Shape 26"/>
          <p:cNvSpPr/>
          <p:nvPr/>
        </p:nvSpPr>
        <p:spPr>
          <a:xfrm>
            <a:off x="4572000" y="1920240"/>
            <a:ext cx="25603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6E8C8A"/>
            </a:solidFill>
            <a:prstDash val="solid"/>
          </a:ln>
        </p:spPr>
      </p:sp>
      <p:sp>
        <p:nvSpPr>
          <p:cNvPr id="27" name="Text 27"/>
          <p:cNvSpPr/>
          <p:nvPr/>
        </p:nvSpPr>
        <p:spPr>
          <a:xfrm>
            <a:off x="4663440" y="19202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absent-day deduction</a:t>
            </a:r>
            <a:endParaRPr lang="en-US" sz="1050" dirty="0"/>
          </a:p>
        </p:txBody>
      </p:sp>
      <p:sp>
        <p:nvSpPr>
          <p:cNvPr id="28" name="Shape 28"/>
          <p:cNvSpPr/>
          <p:nvPr/>
        </p:nvSpPr>
        <p:spPr>
          <a:xfrm>
            <a:off x="7132320" y="1920240"/>
            <a:ext cx="15544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6E8C8A"/>
            </a:solidFill>
            <a:prstDash val="solid"/>
          </a:ln>
        </p:spPr>
      </p:sp>
      <p:sp>
        <p:nvSpPr>
          <p:cNvPr id="29" name="Text 29"/>
          <p:cNvSpPr/>
          <p:nvPr/>
        </p:nvSpPr>
        <p:spPr>
          <a:xfrm>
            <a:off x="7223760" y="19202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F6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50" dirty="0"/>
          </a:p>
        </p:txBody>
      </p:sp>
      <p:sp>
        <p:nvSpPr>
          <p:cNvPr id="30" name="Shape 30"/>
          <p:cNvSpPr/>
          <p:nvPr/>
        </p:nvSpPr>
        <p:spPr>
          <a:xfrm>
            <a:off x="457200" y="2331720"/>
            <a:ext cx="2194560" cy="411480"/>
          </a:xfrm>
          <a:prstGeom prst="rect">
            <a:avLst/>
          </a:prstGeom>
          <a:solidFill>
            <a:srgbClr val="F2F4F4"/>
          </a:solidFill>
          <a:ln w="6350">
            <a:solidFill>
              <a:srgbClr val="6E8C8A"/>
            </a:solidFill>
            <a:prstDash val="solid"/>
          </a:ln>
        </p:spPr>
      </p:sp>
      <p:sp>
        <p:nvSpPr>
          <p:cNvPr id="31" name="Text 31"/>
          <p:cNvSpPr/>
          <p:nvPr/>
        </p:nvSpPr>
        <p:spPr>
          <a:xfrm>
            <a:off x="548640" y="23317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basic salary</a:t>
            </a:r>
            <a:endParaRPr lang="en-US" sz="1050" dirty="0"/>
          </a:p>
        </p:txBody>
      </p:sp>
      <p:sp>
        <p:nvSpPr>
          <p:cNvPr id="32" name="Shape 32"/>
          <p:cNvSpPr/>
          <p:nvPr/>
        </p:nvSpPr>
        <p:spPr>
          <a:xfrm>
            <a:off x="2651760" y="2331720"/>
            <a:ext cx="1920240" cy="411480"/>
          </a:xfrm>
          <a:prstGeom prst="rect">
            <a:avLst/>
          </a:prstGeom>
          <a:solidFill>
            <a:srgbClr val="F2F4F4"/>
          </a:solidFill>
          <a:ln w="6350">
            <a:solidFill>
              <a:srgbClr val="6E8C8A"/>
            </a:solidFill>
            <a:prstDash val="solid"/>
          </a:ln>
        </p:spPr>
      </p:sp>
      <p:sp>
        <p:nvSpPr>
          <p:cNvPr id="33" name="Text 33"/>
          <p:cNvSpPr/>
          <p:nvPr/>
        </p:nvSpPr>
        <p:spPr>
          <a:xfrm>
            <a:off x="2743200" y="23317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= -5000</a:t>
            </a:r>
            <a:endParaRPr lang="en-US" sz="1050" dirty="0"/>
          </a:p>
        </p:txBody>
      </p:sp>
      <p:sp>
        <p:nvSpPr>
          <p:cNvPr id="34" name="Shape 34"/>
          <p:cNvSpPr/>
          <p:nvPr/>
        </p:nvSpPr>
        <p:spPr>
          <a:xfrm>
            <a:off x="4572000" y="2331720"/>
            <a:ext cx="2560320" cy="411480"/>
          </a:xfrm>
          <a:prstGeom prst="rect">
            <a:avLst/>
          </a:prstGeom>
          <a:solidFill>
            <a:srgbClr val="F2F4F4"/>
          </a:solidFill>
          <a:ln w="6350">
            <a:solidFill>
              <a:srgbClr val="6E8C8A"/>
            </a:solidFill>
            <a:prstDash val="solid"/>
          </a:ln>
        </p:spPr>
      </p:sp>
      <p:sp>
        <p:nvSpPr>
          <p:cNvPr id="35" name="Text 35"/>
          <p:cNvSpPr/>
          <p:nvPr/>
        </p:nvSpPr>
        <p:spPr>
          <a:xfrm>
            <a:off x="4663440" y="23317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with a message</a:t>
            </a:r>
            <a:endParaRPr lang="en-US" sz="1050" dirty="0"/>
          </a:p>
        </p:txBody>
      </p:sp>
      <p:sp>
        <p:nvSpPr>
          <p:cNvPr id="36" name="Shape 36"/>
          <p:cNvSpPr/>
          <p:nvPr/>
        </p:nvSpPr>
        <p:spPr>
          <a:xfrm>
            <a:off x="7132320" y="2331720"/>
            <a:ext cx="1554480" cy="411480"/>
          </a:xfrm>
          <a:prstGeom prst="rect">
            <a:avLst/>
          </a:prstGeom>
          <a:solidFill>
            <a:srgbClr val="F2F4F4"/>
          </a:solidFill>
          <a:ln w="6350">
            <a:solidFill>
              <a:srgbClr val="6E8C8A"/>
            </a:solidFill>
            <a:prstDash val="solid"/>
          </a:ln>
        </p:spPr>
      </p:sp>
      <p:sp>
        <p:nvSpPr>
          <p:cNvPr id="37" name="Text 37"/>
          <p:cNvSpPr/>
          <p:nvPr/>
        </p:nvSpPr>
        <p:spPr>
          <a:xfrm>
            <a:off x="7223760" y="23317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F6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50" dirty="0"/>
          </a:p>
        </p:txBody>
      </p:sp>
      <p:sp>
        <p:nvSpPr>
          <p:cNvPr id="38" name="Shape 38"/>
          <p:cNvSpPr/>
          <p:nvPr/>
        </p:nvSpPr>
        <p:spPr>
          <a:xfrm>
            <a:off x="457200" y="2743200"/>
            <a:ext cx="21945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6E8C8A"/>
            </a:solidFill>
            <a:prstDash val="solid"/>
          </a:ln>
        </p:spPr>
      </p:sp>
      <p:sp>
        <p:nvSpPr>
          <p:cNvPr id="39" name="Text 39"/>
          <p:cNvSpPr/>
          <p:nvPr/>
        </p:nvSpPr>
        <p:spPr>
          <a:xfrm>
            <a:off x="548640" y="27432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Non-numeric salary</a:t>
            </a:r>
            <a:endParaRPr lang="en-US" sz="1050" dirty="0"/>
          </a:p>
        </p:txBody>
      </p:sp>
      <p:sp>
        <p:nvSpPr>
          <p:cNvPr id="40" name="Shape 40"/>
          <p:cNvSpPr/>
          <p:nvPr/>
        </p:nvSpPr>
        <p:spPr>
          <a:xfrm>
            <a:off x="2651760" y="2743200"/>
            <a:ext cx="19202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6E8C8A"/>
            </a:solidFill>
            <a:prstDash val="solid"/>
          </a:ln>
        </p:spPr>
      </p:sp>
      <p:sp>
        <p:nvSpPr>
          <p:cNvPr id="41" name="Text 41"/>
          <p:cNvSpPr/>
          <p:nvPr/>
        </p:nvSpPr>
        <p:spPr>
          <a:xfrm>
            <a:off x="2743200" y="27432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= "abc"</a:t>
            </a:r>
            <a:endParaRPr lang="en-US" sz="1050" dirty="0"/>
          </a:p>
        </p:txBody>
      </p:sp>
      <p:sp>
        <p:nvSpPr>
          <p:cNvPr id="42" name="Shape 42"/>
          <p:cNvSpPr/>
          <p:nvPr/>
        </p:nvSpPr>
        <p:spPr>
          <a:xfrm>
            <a:off x="4572000" y="2743200"/>
            <a:ext cx="25603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6E8C8A"/>
            </a:solidFill>
            <a:prstDash val="solid"/>
          </a:ln>
        </p:spPr>
      </p:sp>
      <p:sp>
        <p:nvSpPr>
          <p:cNvPr id="43" name="Text 43"/>
          <p:cNvSpPr/>
          <p:nvPr/>
        </p:nvSpPr>
        <p:spPr>
          <a:xfrm>
            <a:off x="4663440" y="2743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ValueError handled, no crash</a:t>
            </a:r>
            <a:endParaRPr lang="en-US" sz="1050" dirty="0"/>
          </a:p>
        </p:txBody>
      </p:sp>
      <p:sp>
        <p:nvSpPr>
          <p:cNvPr id="44" name="Shape 44"/>
          <p:cNvSpPr/>
          <p:nvPr/>
        </p:nvSpPr>
        <p:spPr>
          <a:xfrm>
            <a:off x="7132320" y="2743200"/>
            <a:ext cx="15544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6E8C8A"/>
            </a:solidFill>
            <a:prstDash val="solid"/>
          </a:ln>
        </p:spPr>
      </p:sp>
      <p:sp>
        <p:nvSpPr>
          <p:cNvPr id="45" name="Text 45"/>
          <p:cNvSpPr/>
          <p:nvPr/>
        </p:nvSpPr>
        <p:spPr>
          <a:xfrm>
            <a:off x="7223760" y="27432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F6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50" dirty="0"/>
          </a:p>
        </p:txBody>
      </p:sp>
      <p:sp>
        <p:nvSpPr>
          <p:cNvPr id="46" name="Shape 46"/>
          <p:cNvSpPr/>
          <p:nvPr/>
        </p:nvSpPr>
        <p:spPr>
          <a:xfrm>
            <a:off x="457200" y="3154680"/>
            <a:ext cx="2194560" cy="411480"/>
          </a:xfrm>
          <a:prstGeom prst="rect">
            <a:avLst/>
          </a:prstGeom>
          <a:solidFill>
            <a:srgbClr val="F2F4F4"/>
          </a:solidFill>
          <a:ln w="6350">
            <a:solidFill>
              <a:srgbClr val="6E8C8A"/>
            </a:solidFill>
            <a:prstDash val="solid"/>
          </a:ln>
        </p:spPr>
      </p:sp>
      <p:sp>
        <p:nvSpPr>
          <p:cNvPr id="47" name="Text 47"/>
          <p:cNvSpPr/>
          <p:nvPr/>
        </p:nvSpPr>
        <p:spPr>
          <a:xfrm>
            <a:off x="548640" y="31546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present &gt; total</a:t>
            </a:r>
            <a:endParaRPr lang="en-US" sz="1050" dirty="0"/>
          </a:p>
        </p:txBody>
      </p:sp>
      <p:sp>
        <p:nvSpPr>
          <p:cNvPr id="48" name="Shape 48"/>
          <p:cNvSpPr/>
          <p:nvPr/>
        </p:nvSpPr>
        <p:spPr>
          <a:xfrm>
            <a:off x="2651760" y="3154680"/>
            <a:ext cx="1920240" cy="411480"/>
          </a:xfrm>
          <a:prstGeom prst="rect">
            <a:avLst/>
          </a:prstGeom>
          <a:solidFill>
            <a:srgbClr val="F2F4F4"/>
          </a:solidFill>
          <a:ln w="6350">
            <a:solidFill>
              <a:srgbClr val="6E8C8A"/>
            </a:solidFill>
            <a:prstDash val="solid"/>
          </a:ln>
        </p:spPr>
      </p:sp>
      <p:sp>
        <p:nvSpPr>
          <p:cNvPr id="49" name="Text 49"/>
          <p:cNvSpPr/>
          <p:nvPr/>
        </p:nvSpPr>
        <p:spPr>
          <a:xfrm>
            <a:off x="2743200" y="31546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of 26 days</a:t>
            </a:r>
            <a:endParaRPr lang="en-US" sz="1050" dirty="0"/>
          </a:p>
        </p:txBody>
      </p:sp>
      <p:sp>
        <p:nvSpPr>
          <p:cNvPr id="50" name="Shape 50"/>
          <p:cNvSpPr/>
          <p:nvPr/>
        </p:nvSpPr>
        <p:spPr>
          <a:xfrm>
            <a:off x="4572000" y="3154680"/>
            <a:ext cx="2560320" cy="411480"/>
          </a:xfrm>
          <a:prstGeom prst="rect">
            <a:avLst/>
          </a:prstGeom>
          <a:solidFill>
            <a:srgbClr val="F2F4F4"/>
          </a:solidFill>
          <a:ln w="6350">
            <a:solidFill>
              <a:srgbClr val="6E8C8A"/>
            </a:solidFill>
            <a:prstDash val="solid"/>
          </a:ln>
        </p:spPr>
      </p:sp>
      <p:sp>
        <p:nvSpPr>
          <p:cNvPr id="51" name="Text 51"/>
          <p:cNvSpPr/>
          <p:nvPr/>
        </p:nvSpPr>
        <p:spPr>
          <a:xfrm>
            <a:off x="4663440" y="31546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rejected, menu continues</a:t>
            </a:r>
            <a:endParaRPr lang="en-US" sz="1050" dirty="0"/>
          </a:p>
        </p:txBody>
      </p:sp>
      <p:sp>
        <p:nvSpPr>
          <p:cNvPr id="52" name="Shape 52"/>
          <p:cNvSpPr/>
          <p:nvPr/>
        </p:nvSpPr>
        <p:spPr>
          <a:xfrm>
            <a:off x="7132320" y="3154680"/>
            <a:ext cx="1554480" cy="411480"/>
          </a:xfrm>
          <a:prstGeom prst="rect">
            <a:avLst/>
          </a:prstGeom>
          <a:solidFill>
            <a:srgbClr val="F2F4F4"/>
          </a:solidFill>
          <a:ln w="6350">
            <a:solidFill>
              <a:srgbClr val="6E8C8A"/>
            </a:solidFill>
            <a:prstDash val="solid"/>
          </a:ln>
        </p:spPr>
      </p:sp>
      <p:sp>
        <p:nvSpPr>
          <p:cNvPr id="53" name="Text 53"/>
          <p:cNvSpPr/>
          <p:nvPr/>
        </p:nvSpPr>
        <p:spPr>
          <a:xfrm>
            <a:off x="7223760" y="31546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F6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50" dirty="0"/>
          </a:p>
        </p:txBody>
      </p:sp>
      <p:sp>
        <p:nvSpPr>
          <p:cNvPr id="54" name="Shape 54"/>
          <p:cNvSpPr/>
          <p:nvPr/>
        </p:nvSpPr>
        <p:spPr>
          <a:xfrm>
            <a:off x="457200" y="3566160"/>
            <a:ext cx="21945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6E8C8A"/>
            </a:solidFill>
            <a:prstDash val="solid"/>
          </a:ln>
        </p:spPr>
      </p:sp>
      <p:sp>
        <p:nvSpPr>
          <p:cNvPr id="55" name="Text 55"/>
          <p:cNvSpPr/>
          <p:nvPr/>
        </p:nvSpPr>
        <p:spPr>
          <a:xfrm>
            <a:off x="548640" y="35661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employee ID</a:t>
            </a:r>
            <a:endParaRPr lang="en-US" sz="1050" dirty="0"/>
          </a:p>
        </p:txBody>
      </p:sp>
      <p:sp>
        <p:nvSpPr>
          <p:cNvPr id="56" name="Shape 56"/>
          <p:cNvSpPr/>
          <p:nvPr/>
        </p:nvSpPr>
        <p:spPr>
          <a:xfrm>
            <a:off x="2651760" y="3566160"/>
            <a:ext cx="19202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6E8C8A"/>
            </a:solidFill>
            <a:prstDash val="solid"/>
          </a:ln>
        </p:spPr>
      </p:sp>
      <p:sp>
        <p:nvSpPr>
          <p:cNvPr id="57" name="Text 57"/>
          <p:cNvSpPr/>
          <p:nvPr/>
        </p:nvSpPr>
        <p:spPr>
          <a:xfrm>
            <a:off x="2743200" y="35661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E101 entered twice</a:t>
            </a:r>
            <a:endParaRPr lang="en-US" sz="1050" dirty="0"/>
          </a:p>
        </p:txBody>
      </p:sp>
      <p:sp>
        <p:nvSpPr>
          <p:cNvPr id="58" name="Shape 58"/>
          <p:cNvSpPr/>
          <p:nvPr/>
        </p:nvSpPr>
        <p:spPr>
          <a:xfrm>
            <a:off x="4572000" y="3566160"/>
            <a:ext cx="25603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6E8C8A"/>
            </a:solidFill>
            <a:prstDash val="solid"/>
          </a:ln>
        </p:spPr>
      </p:sp>
      <p:sp>
        <p:nvSpPr>
          <p:cNvPr id="59" name="Text 59"/>
          <p:cNvSpPr/>
          <p:nvPr/>
        </p:nvSpPr>
        <p:spPr>
          <a:xfrm>
            <a:off x="4663440" y="35661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ID warning shown</a:t>
            </a:r>
            <a:endParaRPr lang="en-US" sz="1050" dirty="0"/>
          </a:p>
        </p:txBody>
      </p:sp>
      <p:sp>
        <p:nvSpPr>
          <p:cNvPr id="60" name="Shape 60"/>
          <p:cNvSpPr/>
          <p:nvPr/>
        </p:nvSpPr>
        <p:spPr>
          <a:xfrm>
            <a:off x="7132320" y="3566160"/>
            <a:ext cx="15544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6E8C8A"/>
            </a:solidFill>
            <a:prstDash val="solid"/>
          </a:ln>
        </p:spPr>
      </p:sp>
      <p:sp>
        <p:nvSpPr>
          <p:cNvPr id="61" name="Text 61"/>
          <p:cNvSpPr/>
          <p:nvPr/>
        </p:nvSpPr>
        <p:spPr>
          <a:xfrm>
            <a:off x="7223760" y="35661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F6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50" dirty="0"/>
          </a:p>
        </p:txBody>
      </p:sp>
      <p:sp>
        <p:nvSpPr>
          <p:cNvPr id="62" name="Shape 62"/>
          <p:cNvSpPr/>
          <p:nvPr/>
        </p:nvSpPr>
        <p:spPr>
          <a:xfrm>
            <a:off x="457200" y="3977640"/>
            <a:ext cx="2194560" cy="411480"/>
          </a:xfrm>
          <a:prstGeom prst="rect">
            <a:avLst/>
          </a:prstGeom>
          <a:solidFill>
            <a:srgbClr val="F2F4F4"/>
          </a:solidFill>
          <a:ln w="6350">
            <a:solidFill>
              <a:srgbClr val="6E8C8A"/>
            </a:solidFill>
            <a:prstDash val="solid"/>
          </a:ln>
        </p:spPr>
      </p:sp>
      <p:sp>
        <p:nvSpPr>
          <p:cNvPr id="63" name="Text 63"/>
          <p:cNvSpPr/>
          <p:nvPr/>
        </p:nvSpPr>
        <p:spPr>
          <a:xfrm>
            <a:off x="548640" y="39776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the program</a:t>
            </a:r>
            <a:endParaRPr lang="en-US" sz="1050" dirty="0"/>
          </a:p>
        </p:txBody>
      </p:sp>
      <p:sp>
        <p:nvSpPr>
          <p:cNvPr id="64" name="Shape 64"/>
          <p:cNvSpPr/>
          <p:nvPr/>
        </p:nvSpPr>
        <p:spPr>
          <a:xfrm>
            <a:off x="2651760" y="3977640"/>
            <a:ext cx="1920240" cy="411480"/>
          </a:xfrm>
          <a:prstGeom prst="rect">
            <a:avLst/>
          </a:prstGeom>
          <a:solidFill>
            <a:srgbClr val="F2F4F4"/>
          </a:solidFill>
          <a:ln w="6350">
            <a:solidFill>
              <a:srgbClr val="6E8C8A"/>
            </a:solidFill>
            <a:prstDash val="solid"/>
          </a:ln>
        </p:spPr>
      </p:sp>
      <p:sp>
        <p:nvSpPr>
          <p:cNvPr id="65" name="Text 65"/>
          <p:cNvSpPr/>
          <p:nvPr/>
        </p:nvSpPr>
        <p:spPr>
          <a:xfrm>
            <a:off x="2743200" y="39776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after exit</a:t>
            </a:r>
            <a:endParaRPr lang="en-US" sz="1050" dirty="0"/>
          </a:p>
        </p:txBody>
      </p:sp>
      <p:sp>
        <p:nvSpPr>
          <p:cNvPr id="66" name="Shape 66"/>
          <p:cNvSpPr/>
          <p:nvPr/>
        </p:nvSpPr>
        <p:spPr>
          <a:xfrm>
            <a:off x="4572000" y="3977640"/>
            <a:ext cx="2560320" cy="411480"/>
          </a:xfrm>
          <a:prstGeom prst="rect">
            <a:avLst/>
          </a:prstGeom>
          <a:solidFill>
            <a:srgbClr val="F2F4F4"/>
          </a:solidFill>
          <a:ln w="6350">
            <a:solidFill>
              <a:srgbClr val="6E8C8A"/>
            </a:solidFill>
            <a:prstDash val="solid"/>
          </a:ln>
        </p:spPr>
      </p:sp>
      <p:sp>
        <p:nvSpPr>
          <p:cNvPr id="67" name="Text 67"/>
          <p:cNvSpPr/>
          <p:nvPr/>
        </p:nvSpPr>
        <p:spPr>
          <a:xfrm>
            <a:off x="4663440" y="39776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reloaded from file</a:t>
            </a:r>
            <a:endParaRPr lang="en-US" sz="1050" dirty="0"/>
          </a:p>
        </p:txBody>
      </p:sp>
      <p:sp>
        <p:nvSpPr>
          <p:cNvPr id="68" name="Shape 68"/>
          <p:cNvSpPr/>
          <p:nvPr/>
        </p:nvSpPr>
        <p:spPr>
          <a:xfrm>
            <a:off x="7132320" y="3977640"/>
            <a:ext cx="1554480" cy="411480"/>
          </a:xfrm>
          <a:prstGeom prst="rect">
            <a:avLst/>
          </a:prstGeom>
          <a:solidFill>
            <a:srgbClr val="F2F4F4"/>
          </a:solidFill>
          <a:ln w="6350">
            <a:solidFill>
              <a:srgbClr val="6E8C8A"/>
            </a:solidFill>
            <a:prstDash val="solid"/>
          </a:ln>
        </p:spPr>
      </p:sp>
      <p:sp>
        <p:nvSpPr>
          <p:cNvPr id="69" name="Text 69"/>
          <p:cNvSpPr/>
          <p:nvPr/>
        </p:nvSpPr>
        <p:spPr>
          <a:xfrm>
            <a:off x="7223760" y="3977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F6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50" dirty="0"/>
          </a:p>
        </p:txBody>
      </p:sp>
      <p:sp>
        <p:nvSpPr>
          <p:cNvPr id="70" name="Shape 70"/>
          <p:cNvSpPr/>
          <p:nvPr/>
        </p:nvSpPr>
        <p:spPr>
          <a:xfrm>
            <a:off x="457200" y="4572000"/>
            <a:ext cx="4000500" cy="1188720"/>
          </a:xfrm>
          <a:prstGeom prst="roundRect">
            <a:avLst>
              <a:gd name="adj" fmla="val 4688"/>
            </a:avLst>
          </a:prstGeom>
          <a:solidFill>
            <a:srgbClr val="F2F4F4"/>
          </a:solidFill>
          <a:ln w="6350">
            <a:solidFill>
              <a:srgbClr val="6E8C8A"/>
            </a:solidFill>
            <a:prstDash val="solid"/>
          </a:ln>
        </p:spPr>
      </p:sp>
      <p:sp>
        <p:nvSpPr>
          <p:cNvPr id="71" name="Text 71"/>
          <p:cNvSpPr/>
          <p:nvPr/>
        </p:nvSpPr>
        <p:spPr>
          <a:xfrm>
            <a:off x="640080" y="4663440"/>
            <a:ext cx="36347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approach</a:t>
            </a:r>
            <a:endParaRPr lang="en-US" sz="13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black-box testing on the console. Each</a:t>
            </a:r>
            <a:endParaRPr lang="en-US" sz="10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was run with valid, boundary and invalid</a:t>
            </a:r>
            <a:endParaRPr lang="en-US" sz="10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and the result compared with a hand</a:t>
            </a:r>
            <a:endParaRPr lang="en-US" sz="10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calculation.</a:t>
            </a:r>
            <a:endParaRPr lang="en-US" sz="1050" dirty="0"/>
          </a:p>
        </p:txBody>
      </p:sp>
      <p:sp>
        <p:nvSpPr>
          <p:cNvPr id="72" name="Shape 72"/>
          <p:cNvSpPr/>
          <p:nvPr/>
        </p:nvSpPr>
        <p:spPr>
          <a:xfrm>
            <a:off x="4686300" y="4572000"/>
            <a:ext cx="4000500" cy="1188720"/>
          </a:xfrm>
          <a:prstGeom prst="roundRect">
            <a:avLst>
              <a:gd name="adj" fmla="val 4688"/>
            </a:avLst>
          </a:prstGeom>
          <a:solidFill>
            <a:srgbClr val="F2F4F4"/>
          </a:solidFill>
          <a:ln w="6350">
            <a:solidFill>
              <a:srgbClr val="6E8C8A"/>
            </a:solidFill>
            <a:prstDash val="solid"/>
          </a:ln>
        </p:spPr>
      </p:sp>
      <p:sp>
        <p:nvSpPr>
          <p:cNvPr id="73" name="Text 73"/>
          <p:cNvSpPr/>
          <p:nvPr/>
        </p:nvSpPr>
        <p:spPr>
          <a:xfrm>
            <a:off x="4869180" y="4663440"/>
            <a:ext cx="36347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3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of 7 test cases passed. No unhandled exception</a:t>
            </a:r>
            <a:endParaRPr lang="en-US" sz="10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observed - every invalid entry is reported</a:t>
            </a:r>
            <a:endParaRPr lang="en-US" sz="10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clear message and the menu loop keeps</a:t>
            </a:r>
            <a:endParaRPr lang="en-US" sz="10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hallenge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137160" y="137160"/>
            <a:ext cx="8869680" cy="6583680"/>
          </a:xfrm>
          <a:prstGeom prst="rect">
            <a:avLst/>
          </a:prstGeom>
          <a:noFill/>
          <a:ln w="19050">
            <a:solidFill>
              <a:srgbClr val="6E8C8A"/>
            </a:solidFill>
            <a:prstDash val="solid"/>
          </a:ln>
        </p:spPr>
      </p:sp>
      <p:sp>
        <p:nvSpPr>
          <p:cNvPr id="3" name="Shape 3"/>
          <p:cNvSpPr/>
          <p:nvPr/>
        </p:nvSpPr>
        <p:spPr>
          <a:xfrm>
            <a:off x="137160" y="6355080"/>
            <a:ext cx="8869680" cy="365760"/>
          </a:xfrm>
          <a:prstGeom prst="rect">
            <a:avLst/>
          </a:prstGeom>
          <a:solidFill>
            <a:srgbClr val="8FADAB"/>
          </a:solidFill>
          <a:ln/>
        </p:spPr>
      </p:sp>
      <p:sp>
        <p:nvSpPr>
          <p:cNvPr id="4" name="Text 4"/>
          <p:cNvSpPr/>
          <p:nvPr/>
        </p:nvSpPr>
        <p:spPr>
          <a:xfrm>
            <a:off x="320040" y="635508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B. Jain Institute of Technology Management and Research</a:t>
            </a:r>
            <a:endParaRPr lang="en-US" sz="1200" dirty="0"/>
          </a:p>
        </p:txBody>
      </p:sp>
      <p:sp>
        <p:nvSpPr>
          <p:cNvPr id="5" name="Text 5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 and Solutions</a:t>
            </a:r>
            <a:endParaRPr lang="en-US" sz="3000" dirty="0"/>
          </a:p>
        </p:txBody>
      </p:sp>
      <p:sp>
        <p:nvSpPr>
          <p:cNvPr id="6" name="Shape 6"/>
          <p:cNvSpPr/>
          <p:nvPr/>
        </p:nvSpPr>
        <p:spPr>
          <a:xfrm>
            <a:off x="457200" y="1097280"/>
            <a:ext cx="4000500" cy="1554480"/>
          </a:xfrm>
          <a:prstGeom prst="roundRect">
            <a:avLst>
              <a:gd name="adj" fmla="val 4688"/>
            </a:avLst>
          </a:prstGeom>
          <a:solidFill>
            <a:srgbClr val="F2F4F4"/>
          </a:solidFill>
          <a:ln w="6350">
            <a:solidFill>
              <a:srgbClr val="6E8C8A"/>
            </a:solidFill>
            <a:prstDash val="solid"/>
          </a:ln>
        </p:spPr>
      </p:sp>
      <p:sp>
        <p:nvSpPr>
          <p:cNvPr id="7" name="Text 7"/>
          <p:cNvSpPr/>
          <p:nvPr/>
        </p:nvSpPr>
        <p:spPr>
          <a:xfrm>
            <a:off x="640080" y="1188720"/>
            <a:ext cx="36347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decimal salary values</a:t>
            </a:r>
            <a:endParaRPr lang="en-US" sz="13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Amounts printed with many decimal places.</a:t>
            </a:r>
            <a:endParaRPr lang="en-US" sz="1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 by formatting every figure with</a:t>
            </a:r>
            <a:endParaRPr lang="en-US" sz="1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{:.2f} at the point of display.</a:t>
            </a:r>
            <a:endParaRPr lang="en-US" sz="1100" dirty="0"/>
          </a:p>
        </p:txBody>
      </p:sp>
      <p:sp>
        <p:nvSpPr>
          <p:cNvPr id="8" name="Shape 8"/>
          <p:cNvSpPr/>
          <p:nvPr/>
        </p:nvSpPr>
        <p:spPr>
          <a:xfrm>
            <a:off x="4686300" y="1097280"/>
            <a:ext cx="4000500" cy="1554480"/>
          </a:xfrm>
          <a:prstGeom prst="roundRect">
            <a:avLst>
              <a:gd name="adj" fmla="val 4688"/>
            </a:avLst>
          </a:prstGeom>
          <a:solidFill>
            <a:srgbClr val="F2F4F4"/>
          </a:solidFill>
          <a:ln w="6350">
            <a:solidFill>
              <a:srgbClr val="6E8C8A"/>
            </a:solidFill>
            <a:prstDash val="solid"/>
          </a:ln>
        </p:spPr>
      </p:sp>
      <p:sp>
        <p:nvSpPr>
          <p:cNvPr id="9" name="Text 9"/>
          <p:cNvSpPr/>
          <p:nvPr/>
        </p:nvSpPr>
        <p:spPr>
          <a:xfrm>
            <a:off x="4869180" y="1188720"/>
            <a:ext cx="36347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crashed on bad input</a:t>
            </a:r>
            <a:endParaRPr lang="en-US" sz="13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typed into a numeric field raised a</a:t>
            </a:r>
            <a:endParaRPr lang="en-US" sz="1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ValueError. Wrapped each input in try-except</a:t>
            </a:r>
            <a:endParaRPr lang="en-US" sz="1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menu loop simply re-prompts.</a:t>
            </a:r>
            <a:endParaRPr lang="en-US" sz="1100" dirty="0"/>
          </a:p>
        </p:txBody>
      </p:sp>
      <p:sp>
        <p:nvSpPr>
          <p:cNvPr id="10" name="Shape 10"/>
          <p:cNvSpPr/>
          <p:nvPr/>
        </p:nvSpPr>
        <p:spPr>
          <a:xfrm>
            <a:off x="457200" y="2834640"/>
            <a:ext cx="4000500" cy="1554480"/>
          </a:xfrm>
          <a:prstGeom prst="roundRect">
            <a:avLst>
              <a:gd name="adj" fmla="val 4688"/>
            </a:avLst>
          </a:prstGeom>
          <a:solidFill>
            <a:srgbClr val="F2F4F4"/>
          </a:solidFill>
          <a:ln w="6350">
            <a:solidFill>
              <a:srgbClr val="6E8C8A"/>
            </a:solidFill>
            <a:prstDash val="solid"/>
          </a:ln>
        </p:spPr>
      </p:sp>
      <p:sp>
        <p:nvSpPr>
          <p:cNvPr id="11" name="Text 11"/>
          <p:cNvSpPr/>
          <p:nvPr/>
        </p:nvSpPr>
        <p:spPr>
          <a:xfrm>
            <a:off x="640080" y="2926080"/>
            <a:ext cx="36347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lost when the program closed</a:t>
            </a:r>
            <a:endParaRPr lang="en-US" sz="13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existed only in memory. Added</a:t>
            </a:r>
            <a:endParaRPr lang="en-US" sz="1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save_to_file() and load_from_file() so</a:t>
            </a:r>
            <a:endParaRPr lang="en-US" sz="1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data persists in employees.txt.</a:t>
            </a:r>
            <a:endParaRPr lang="en-US" sz="1100" dirty="0"/>
          </a:p>
        </p:txBody>
      </p:sp>
      <p:sp>
        <p:nvSpPr>
          <p:cNvPr id="12" name="Shape 12"/>
          <p:cNvSpPr/>
          <p:nvPr/>
        </p:nvSpPr>
        <p:spPr>
          <a:xfrm>
            <a:off x="4686300" y="2834640"/>
            <a:ext cx="4000500" cy="1554480"/>
          </a:xfrm>
          <a:prstGeom prst="roundRect">
            <a:avLst>
              <a:gd name="adj" fmla="val 4688"/>
            </a:avLst>
          </a:prstGeom>
          <a:solidFill>
            <a:srgbClr val="F2F4F4"/>
          </a:solidFill>
          <a:ln w="6350">
            <a:solidFill>
              <a:srgbClr val="6E8C8A"/>
            </a:solidFill>
            <a:prstDash val="solid"/>
          </a:ln>
        </p:spPr>
      </p:sp>
      <p:sp>
        <p:nvSpPr>
          <p:cNvPr id="13" name="Text 13"/>
          <p:cNvSpPr/>
          <p:nvPr/>
        </p:nvSpPr>
        <p:spPr>
          <a:xfrm>
            <a:off x="4869180" y="2926080"/>
            <a:ext cx="36347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conflicts on GitHub</a:t>
            </a:r>
            <a:endParaRPr lang="en-US" sz="13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edits to the same file clashed while</a:t>
            </a:r>
            <a:endParaRPr lang="en-US" sz="1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pushing. Resolved by working on separate</a:t>
            </a:r>
            <a:endParaRPr lang="en-US" sz="1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branches and pulling before pushing.</a:t>
            </a:r>
            <a:endParaRPr lang="en-US" sz="1100" dirty="0"/>
          </a:p>
        </p:txBody>
      </p:sp>
      <p:sp>
        <p:nvSpPr>
          <p:cNvPr id="14" name="Shape 14"/>
          <p:cNvSpPr/>
          <p:nvPr/>
        </p:nvSpPr>
        <p:spPr>
          <a:xfrm>
            <a:off x="457200" y="4572000"/>
            <a:ext cx="8229600" cy="914400"/>
          </a:xfrm>
          <a:prstGeom prst="roundRect">
            <a:avLst>
              <a:gd name="adj" fmla="val 4688"/>
            </a:avLst>
          </a:prstGeom>
          <a:solidFill>
            <a:srgbClr val="F2F4F4"/>
          </a:solidFill>
          <a:ln w="6350">
            <a:solidFill>
              <a:srgbClr val="6E8C8A"/>
            </a:solidFill>
            <a:prstDash val="solid"/>
          </a:ln>
        </p:spPr>
      </p:sp>
      <p:sp>
        <p:nvSpPr>
          <p:cNvPr id="15" name="Text 15"/>
          <p:cNvSpPr/>
          <p:nvPr/>
        </p:nvSpPr>
        <p:spPr>
          <a:xfrm>
            <a:off x="640080" y="46634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</a:t>
            </a:r>
            <a:endParaRPr lang="en-US" sz="13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 the program into small single-purpose functions made both</a:t>
            </a:r>
            <a:endParaRPr lang="en-US" sz="11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and version control far easier to manage.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emaining Wor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137160" y="137160"/>
            <a:ext cx="8869680" cy="6583680"/>
          </a:xfrm>
          <a:prstGeom prst="rect">
            <a:avLst/>
          </a:prstGeom>
          <a:noFill/>
          <a:ln w="19050">
            <a:solidFill>
              <a:srgbClr val="6E8C8A"/>
            </a:solidFill>
            <a:prstDash val="solid"/>
          </a:ln>
        </p:spPr>
      </p:sp>
      <p:sp>
        <p:nvSpPr>
          <p:cNvPr id="3" name="Shape 3"/>
          <p:cNvSpPr/>
          <p:nvPr/>
        </p:nvSpPr>
        <p:spPr>
          <a:xfrm>
            <a:off x="137160" y="6355080"/>
            <a:ext cx="8869680" cy="365760"/>
          </a:xfrm>
          <a:prstGeom prst="rect">
            <a:avLst/>
          </a:prstGeom>
          <a:solidFill>
            <a:srgbClr val="8FADAB"/>
          </a:solidFill>
          <a:ln/>
        </p:spPr>
      </p:sp>
      <p:sp>
        <p:nvSpPr>
          <p:cNvPr id="4" name="Text 4"/>
          <p:cNvSpPr/>
          <p:nvPr/>
        </p:nvSpPr>
        <p:spPr>
          <a:xfrm>
            <a:off x="320040" y="635508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B. Jain Institute of Technology Management and Research</a:t>
            </a:r>
            <a:endParaRPr lang="en-US" sz="1200" dirty="0"/>
          </a:p>
        </p:txBody>
      </p:sp>
      <p:sp>
        <p:nvSpPr>
          <p:cNvPr id="5" name="Text 5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Work (30%) and Plan</a:t>
            </a:r>
            <a:endParaRPr lang="en-US" sz="3000" dirty="0"/>
          </a:p>
        </p:txBody>
      </p:sp>
      <p:sp>
        <p:nvSpPr>
          <p:cNvPr id="6" name="Shape 6"/>
          <p:cNvSpPr/>
          <p:nvPr/>
        </p:nvSpPr>
        <p:spPr>
          <a:xfrm>
            <a:off x="502920" y="1143000"/>
            <a:ext cx="384048" cy="384048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7" name="Text 7"/>
          <p:cNvSpPr/>
          <p:nvPr/>
        </p:nvSpPr>
        <p:spPr>
          <a:xfrm>
            <a:off x="502920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8"/>
          <p:cNvSpPr/>
          <p:nvPr/>
        </p:nvSpPr>
        <p:spPr>
          <a:xfrm>
            <a:off x="1005840" y="1088136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month-wise consolidated payroll report</a:t>
            </a:r>
            <a:endParaRPr lang="en-US" sz="1200" dirty="0"/>
          </a:p>
        </p:txBody>
      </p:sp>
      <p:sp>
        <p:nvSpPr>
          <p:cNvPr id="9" name="Shape 9"/>
          <p:cNvSpPr/>
          <p:nvPr/>
        </p:nvSpPr>
        <p:spPr>
          <a:xfrm>
            <a:off x="502920" y="1965960"/>
            <a:ext cx="384048" cy="384048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10" name="Text 10"/>
          <p:cNvSpPr/>
          <p:nvPr/>
        </p:nvSpPr>
        <p:spPr>
          <a:xfrm>
            <a:off x="50292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11"/>
          <p:cNvSpPr/>
          <p:nvPr/>
        </p:nvSpPr>
        <p:spPr>
          <a:xfrm>
            <a:off x="1005840" y="1911096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update and delete options to the main menu</a:t>
            </a:r>
            <a:endParaRPr lang="en-US" sz="1200" dirty="0"/>
          </a:p>
        </p:txBody>
      </p:sp>
      <p:sp>
        <p:nvSpPr>
          <p:cNvPr id="12" name="Shape 12"/>
          <p:cNvSpPr/>
          <p:nvPr/>
        </p:nvSpPr>
        <p:spPr>
          <a:xfrm>
            <a:off x="502920" y="2788920"/>
            <a:ext cx="384048" cy="384048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13" name="Text 13"/>
          <p:cNvSpPr/>
          <p:nvPr/>
        </p:nvSpPr>
        <p:spPr>
          <a:xfrm>
            <a:off x="502920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4"/>
          <p:cNvSpPr/>
          <p:nvPr/>
        </p:nvSpPr>
        <p:spPr>
          <a:xfrm>
            <a:off x="1005840" y="2734056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records in CSV format for easier analysis</a:t>
            </a:r>
            <a:endParaRPr lang="en-US" sz="1200" dirty="0"/>
          </a:p>
        </p:txBody>
      </p:sp>
      <p:sp>
        <p:nvSpPr>
          <p:cNvPr id="15" name="Shape 15"/>
          <p:cNvSpPr/>
          <p:nvPr/>
        </p:nvSpPr>
        <p:spPr>
          <a:xfrm>
            <a:off x="4754880" y="1143000"/>
            <a:ext cx="384048" cy="384048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16" name="Text 16"/>
          <p:cNvSpPr/>
          <p:nvPr/>
        </p:nvSpPr>
        <p:spPr>
          <a:xfrm>
            <a:off x="4754880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7"/>
          <p:cNvSpPr/>
          <p:nvPr/>
        </p:nvSpPr>
        <p:spPr>
          <a:xfrm>
            <a:off x="5257800" y="1088136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simple Tkinter screen for data entry</a:t>
            </a:r>
            <a:endParaRPr lang="en-US" sz="1200" dirty="0"/>
          </a:p>
        </p:txBody>
      </p:sp>
      <p:sp>
        <p:nvSpPr>
          <p:cNvPr id="18" name="Shape 18"/>
          <p:cNvSpPr/>
          <p:nvPr/>
        </p:nvSpPr>
        <p:spPr>
          <a:xfrm>
            <a:off x="4754880" y="1965960"/>
            <a:ext cx="384048" cy="384048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19" name="Text 19"/>
          <p:cNvSpPr/>
          <p:nvPr/>
        </p:nvSpPr>
        <p:spPr>
          <a:xfrm>
            <a:off x="475488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20"/>
          <p:cNvSpPr/>
          <p:nvPr/>
        </p:nvSpPr>
        <p:spPr>
          <a:xfrm>
            <a:off x="5257800" y="1911096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user manual and final project report</a:t>
            </a:r>
            <a:endParaRPr lang="en-US" sz="1200" dirty="0"/>
          </a:p>
        </p:txBody>
      </p:sp>
      <p:sp>
        <p:nvSpPr>
          <p:cNvPr id="21" name="Shape 21"/>
          <p:cNvSpPr/>
          <p:nvPr/>
        </p:nvSpPr>
        <p:spPr>
          <a:xfrm>
            <a:off x="4754880" y="2788920"/>
            <a:ext cx="384048" cy="384048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22" name="Text 22"/>
          <p:cNvSpPr/>
          <p:nvPr/>
        </p:nvSpPr>
        <p:spPr>
          <a:xfrm>
            <a:off x="4754880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3" name="Text 23"/>
          <p:cNvSpPr/>
          <p:nvPr/>
        </p:nvSpPr>
        <p:spPr>
          <a:xfrm>
            <a:off x="5257800" y="2734056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testing, code cleanup and repository documentation</a:t>
            </a:r>
            <a:endParaRPr lang="en-US" sz="1200" dirty="0"/>
          </a:p>
        </p:txBody>
      </p:sp>
      <p:sp>
        <p:nvSpPr>
          <p:cNvPr id="24" name="Text 24"/>
          <p:cNvSpPr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for the final phase</a:t>
            </a:r>
            <a:endParaRPr lang="en-US" sz="1250" dirty="0"/>
          </a:p>
        </p:txBody>
      </p:sp>
      <p:sp>
        <p:nvSpPr>
          <p:cNvPr id="25" name="Shape 25"/>
          <p:cNvSpPr/>
          <p:nvPr/>
        </p:nvSpPr>
        <p:spPr>
          <a:xfrm>
            <a:off x="457200" y="4069080"/>
            <a:ext cx="1371600" cy="411480"/>
          </a:xfrm>
          <a:prstGeom prst="rect">
            <a:avLst/>
          </a:prstGeom>
          <a:solidFill>
            <a:srgbClr val="6E8C8A"/>
          </a:solidFill>
          <a:ln w="6350">
            <a:solidFill>
              <a:srgbClr val="6E8C8A"/>
            </a:solidFill>
            <a:prstDash val="solid"/>
          </a:ln>
        </p:spPr>
      </p:sp>
      <p:sp>
        <p:nvSpPr>
          <p:cNvPr id="26" name="Text 26"/>
          <p:cNvSpPr/>
          <p:nvPr/>
        </p:nvSpPr>
        <p:spPr>
          <a:xfrm>
            <a:off x="548640" y="40690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</a:t>
            </a:r>
            <a:endParaRPr lang="en-US" sz="1150" dirty="0"/>
          </a:p>
        </p:txBody>
      </p:sp>
      <p:sp>
        <p:nvSpPr>
          <p:cNvPr id="27" name="Shape 27"/>
          <p:cNvSpPr/>
          <p:nvPr/>
        </p:nvSpPr>
        <p:spPr>
          <a:xfrm>
            <a:off x="1828800" y="4069080"/>
            <a:ext cx="6858000" cy="411480"/>
          </a:xfrm>
          <a:prstGeom prst="rect">
            <a:avLst/>
          </a:prstGeom>
          <a:solidFill>
            <a:srgbClr val="6E8C8A"/>
          </a:solidFill>
          <a:ln w="6350">
            <a:solidFill>
              <a:srgbClr val="6E8C8A"/>
            </a:solidFill>
            <a:prstDash val="solid"/>
          </a:ln>
        </p:spPr>
      </p:sp>
      <p:sp>
        <p:nvSpPr>
          <p:cNvPr id="28" name="Text 28"/>
          <p:cNvSpPr/>
          <p:nvPr/>
        </p:nvSpPr>
        <p:spPr>
          <a:xfrm>
            <a:off x="1920240" y="406908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Activity</a:t>
            </a:r>
            <a:endParaRPr lang="en-US" sz="1150" dirty="0"/>
          </a:p>
        </p:txBody>
      </p:sp>
      <p:sp>
        <p:nvSpPr>
          <p:cNvPr id="29" name="Shape 29"/>
          <p:cNvSpPr/>
          <p:nvPr/>
        </p:nvSpPr>
        <p:spPr>
          <a:xfrm>
            <a:off x="457200" y="4480560"/>
            <a:ext cx="1371600" cy="457200"/>
          </a:xfrm>
          <a:prstGeom prst="rect">
            <a:avLst/>
          </a:prstGeom>
          <a:solidFill>
            <a:srgbClr val="F2F4F4"/>
          </a:solidFill>
          <a:ln w="6350">
            <a:solidFill>
              <a:srgbClr val="6E8C8A"/>
            </a:solidFill>
            <a:prstDash val="solid"/>
          </a:ln>
        </p:spPr>
      </p:sp>
      <p:sp>
        <p:nvSpPr>
          <p:cNvPr id="30" name="Text 30"/>
          <p:cNvSpPr/>
          <p:nvPr/>
        </p:nvSpPr>
        <p:spPr>
          <a:xfrm>
            <a:off x="548640" y="44805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100" dirty="0"/>
          </a:p>
        </p:txBody>
      </p:sp>
      <p:sp>
        <p:nvSpPr>
          <p:cNvPr id="31" name="Shape 31"/>
          <p:cNvSpPr/>
          <p:nvPr/>
        </p:nvSpPr>
        <p:spPr>
          <a:xfrm>
            <a:off x="1828800" y="4480560"/>
            <a:ext cx="6858000" cy="457200"/>
          </a:xfrm>
          <a:prstGeom prst="rect">
            <a:avLst/>
          </a:prstGeom>
          <a:solidFill>
            <a:srgbClr val="F2F4F4"/>
          </a:solidFill>
          <a:ln w="6350">
            <a:solidFill>
              <a:srgbClr val="6E8C8A"/>
            </a:solidFill>
            <a:prstDash val="solid"/>
          </a:ln>
        </p:spPr>
      </p:sp>
      <p:sp>
        <p:nvSpPr>
          <p:cNvPr id="32" name="Text 32"/>
          <p:cNvSpPr/>
          <p:nvPr/>
        </p:nvSpPr>
        <p:spPr>
          <a:xfrm>
            <a:off x="1920240" y="448056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report module, update / delete options and CSV storage</a:t>
            </a:r>
            <a:endParaRPr lang="en-US" sz="1100" dirty="0"/>
          </a:p>
        </p:txBody>
      </p:sp>
      <p:sp>
        <p:nvSpPr>
          <p:cNvPr id="33" name="Shape 33"/>
          <p:cNvSpPr/>
          <p:nvPr/>
        </p:nvSpPr>
        <p:spPr>
          <a:xfrm>
            <a:off x="457200" y="4937760"/>
            <a:ext cx="1371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6E8C8A"/>
            </a:solidFill>
            <a:prstDash val="solid"/>
          </a:ln>
        </p:spPr>
      </p:sp>
      <p:sp>
        <p:nvSpPr>
          <p:cNvPr id="34" name="Text 34"/>
          <p:cNvSpPr/>
          <p:nvPr/>
        </p:nvSpPr>
        <p:spPr>
          <a:xfrm>
            <a:off x="548640" y="49377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100" dirty="0"/>
          </a:p>
        </p:txBody>
      </p:sp>
      <p:sp>
        <p:nvSpPr>
          <p:cNvPr id="35" name="Shape 35"/>
          <p:cNvSpPr/>
          <p:nvPr/>
        </p:nvSpPr>
        <p:spPr>
          <a:xfrm>
            <a:off x="1828800" y="4937760"/>
            <a:ext cx="68580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6E8C8A"/>
            </a:solidFill>
            <a:prstDash val="solid"/>
          </a:ln>
        </p:spPr>
      </p:sp>
      <p:sp>
        <p:nvSpPr>
          <p:cNvPr id="36" name="Text 36"/>
          <p:cNvSpPr/>
          <p:nvPr/>
        </p:nvSpPr>
        <p:spPr>
          <a:xfrm>
            <a:off x="1920240" y="493776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 data-entry screen and integration testing</a:t>
            </a:r>
            <a:endParaRPr lang="en-US" sz="1100" dirty="0"/>
          </a:p>
        </p:txBody>
      </p:sp>
      <p:sp>
        <p:nvSpPr>
          <p:cNvPr id="37" name="Shape 37"/>
          <p:cNvSpPr/>
          <p:nvPr/>
        </p:nvSpPr>
        <p:spPr>
          <a:xfrm>
            <a:off x="457200" y="5394960"/>
            <a:ext cx="1371600" cy="457200"/>
          </a:xfrm>
          <a:prstGeom prst="rect">
            <a:avLst/>
          </a:prstGeom>
          <a:solidFill>
            <a:srgbClr val="F2F4F4"/>
          </a:solidFill>
          <a:ln w="6350">
            <a:solidFill>
              <a:srgbClr val="6E8C8A"/>
            </a:solidFill>
            <a:prstDash val="solid"/>
          </a:ln>
        </p:spPr>
      </p:sp>
      <p:sp>
        <p:nvSpPr>
          <p:cNvPr id="38" name="Text 38"/>
          <p:cNvSpPr/>
          <p:nvPr/>
        </p:nvSpPr>
        <p:spPr>
          <a:xfrm>
            <a:off x="548640" y="53949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100" dirty="0"/>
          </a:p>
        </p:txBody>
      </p:sp>
      <p:sp>
        <p:nvSpPr>
          <p:cNvPr id="39" name="Shape 39"/>
          <p:cNvSpPr/>
          <p:nvPr/>
        </p:nvSpPr>
        <p:spPr>
          <a:xfrm>
            <a:off x="1828800" y="5394960"/>
            <a:ext cx="6858000" cy="457200"/>
          </a:xfrm>
          <a:prstGeom prst="rect">
            <a:avLst/>
          </a:prstGeom>
          <a:solidFill>
            <a:srgbClr val="F2F4F4"/>
          </a:solidFill>
          <a:ln w="6350">
            <a:solidFill>
              <a:srgbClr val="6E8C8A"/>
            </a:solidFill>
            <a:prstDash val="solid"/>
          </a:ln>
        </p:spPr>
      </p:sp>
      <p:sp>
        <p:nvSpPr>
          <p:cNvPr id="40" name="Text 40"/>
          <p:cNvSpPr/>
          <p:nvPr/>
        </p:nvSpPr>
        <p:spPr>
          <a:xfrm>
            <a:off x="1920240" y="539496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report, user manual and repository documentation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nclus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137160" y="137160"/>
            <a:ext cx="8869680" cy="6583680"/>
          </a:xfrm>
          <a:prstGeom prst="rect">
            <a:avLst/>
          </a:prstGeom>
          <a:noFill/>
          <a:ln w="19050">
            <a:solidFill>
              <a:srgbClr val="6E8C8A"/>
            </a:solidFill>
            <a:prstDash val="solid"/>
          </a:ln>
        </p:spPr>
      </p:sp>
      <p:sp>
        <p:nvSpPr>
          <p:cNvPr id="3" name="Shape 3"/>
          <p:cNvSpPr/>
          <p:nvPr/>
        </p:nvSpPr>
        <p:spPr>
          <a:xfrm>
            <a:off x="137160" y="6355080"/>
            <a:ext cx="8869680" cy="365760"/>
          </a:xfrm>
          <a:prstGeom prst="rect">
            <a:avLst/>
          </a:prstGeom>
          <a:solidFill>
            <a:srgbClr val="8FADAB"/>
          </a:solidFill>
          <a:ln/>
        </p:spPr>
      </p:sp>
      <p:sp>
        <p:nvSpPr>
          <p:cNvPr id="4" name="Text 4"/>
          <p:cNvSpPr/>
          <p:nvPr/>
        </p:nvSpPr>
        <p:spPr>
          <a:xfrm>
            <a:off x="320040" y="635508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B. Jain Institute of Technology Management and Research</a:t>
            </a:r>
            <a:endParaRPr lang="en-US" sz="1200" dirty="0"/>
          </a:p>
        </p:txBody>
      </p:sp>
      <p:sp>
        <p:nvSpPr>
          <p:cNvPr id="5" name="Text 5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6" name="Shape 6"/>
          <p:cNvSpPr/>
          <p:nvPr/>
        </p:nvSpPr>
        <p:spPr>
          <a:xfrm>
            <a:off x="457200" y="1097280"/>
            <a:ext cx="5181600" cy="3931920"/>
          </a:xfrm>
          <a:prstGeom prst="roundRect">
            <a:avLst>
              <a:gd name="adj" fmla="val 4688"/>
            </a:avLst>
          </a:prstGeom>
          <a:solidFill>
            <a:srgbClr val="F2F4F4"/>
          </a:solidFill>
          <a:ln w="6350">
            <a:solidFill>
              <a:srgbClr val="6E8C8A"/>
            </a:solidFill>
            <a:prstDash val="solid"/>
          </a:ln>
        </p:spPr>
      </p:sp>
      <p:sp>
        <p:nvSpPr>
          <p:cNvPr id="7" name="Text 7"/>
          <p:cNvSpPr/>
          <p:nvPr/>
        </p:nvSpPr>
        <p:spPr>
          <a:xfrm>
            <a:off x="640080" y="1280160"/>
            <a:ext cx="4815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of the planned project work is complete and runs without errors.</a:t>
            </a:r>
            <a:endParaRPr lang="en-US" sz="125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Allowance, deduction, salary and payslip logic verified against manual calculations.</a:t>
            </a:r>
            <a:endParaRPr lang="en-US" sz="125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Python applied throughout: functions, loops, conditionals, dictionaries, file handling, exception handling and string formatting.</a:t>
            </a:r>
            <a:endParaRPr lang="en-US" sz="125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code, README and commit history are maintained in the GitHub repository.</a:t>
            </a:r>
            <a:endParaRPr lang="en-US" sz="125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remaining 30% - reporting, update / delete options and a GUI - is planned for the final phase.</a:t>
            </a:r>
            <a:endParaRPr lang="en-US" sz="1250" dirty="0"/>
          </a:p>
        </p:txBody>
      </p:sp>
      <p:sp>
        <p:nvSpPr>
          <p:cNvPr id="8" name="Shape 8"/>
          <p:cNvSpPr/>
          <p:nvPr/>
        </p:nvSpPr>
        <p:spPr>
          <a:xfrm>
            <a:off x="5867400" y="1097280"/>
            <a:ext cx="2819400" cy="1188720"/>
          </a:xfrm>
          <a:prstGeom prst="roundRect">
            <a:avLst>
              <a:gd name="adj" fmla="val 4688"/>
            </a:avLst>
          </a:prstGeom>
          <a:solidFill>
            <a:srgbClr val="F2F4F4"/>
          </a:solidFill>
          <a:ln w="6350">
            <a:solidFill>
              <a:srgbClr val="6E8C8A"/>
            </a:solidFill>
            <a:prstDash val="solid"/>
          </a:ln>
        </p:spPr>
      </p:sp>
      <p:sp>
        <p:nvSpPr>
          <p:cNvPr id="9" name="Text 9"/>
          <p:cNvSpPr/>
          <p:nvPr/>
        </p:nvSpPr>
        <p:spPr>
          <a:xfrm>
            <a:off x="5958840" y="1188720"/>
            <a:ext cx="2636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28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completed</a:t>
            </a:r>
            <a:endParaRPr lang="en-US" sz="1000" dirty="0"/>
          </a:p>
        </p:txBody>
      </p:sp>
      <p:sp>
        <p:nvSpPr>
          <p:cNvPr id="10" name="Shape 10"/>
          <p:cNvSpPr/>
          <p:nvPr/>
        </p:nvSpPr>
        <p:spPr>
          <a:xfrm>
            <a:off x="5867400" y="2468880"/>
            <a:ext cx="2819400" cy="1188720"/>
          </a:xfrm>
          <a:prstGeom prst="roundRect">
            <a:avLst>
              <a:gd name="adj" fmla="val 4688"/>
            </a:avLst>
          </a:prstGeom>
          <a:solidFill>
            <a:srgbClr val="F2F4F4"/>
          </a:solidFill>
          <a:ln w="6350">
            <a:solidFill>
              <a:srgbClr val="6E8C8A"/>
            </a:solidFill>
            <a:prstDash val="solid"/>
          </a:ln>
        </p:spPr>
      </p:sp>
      <p:sp>
        <p:nvSpPr>
          <p:cNvPr id="11" name="Text 11"/>
          <p:cNvSpPr/>
          <p:nvPr/>
        </p:nvSpPr>
        <p:spPr>
          <a:xfrm>
            <a:off x="5958840" y="2560320"/>
            <a:ext cx="2636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7</a:t>
            </a:r>
            <a:endParaRPr lang="en-US" sz="28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 passed</a:t>
            </a:r>
            <a:endParaRPr lang="en-US" sz="1000" dirty="0"/>
          </a:p>
        </p:txBody>
      </p:sp>
      <p:sp>
        <p:nvSpPr>
          <p:cNvPr id="12" name="Shape 12"/>
          <p:cNvSpPr/>
          <p:nvPr/>
        </p:nvSpPr>
        <p:spPr>
          <a:xfrm>
            <a:off x="5867400" y="3840480"/>
            <a:ext cx="2819400" cy="1188720"/>
          </a:xfrm>
          <a:prstGeom prst="roundRect">
            <a:avLst>
              <a:gd name="adj" fmla="val 4688"/>
            </a:avLst>
          </a:prstGeom>
          <a:solidFill>
            <a:srgbClr val="F2F4F4"/>
          </a:solidFill>
          <a:ln w="6350">
            <a:solidFill>
              <a:srgbClr val="6E8C8A"/>
            </a:solidFill>
            <a:prstDash val="solid"/>
          </a:ln>
        </p:spPr>
      </p:sp>
      <p:sp>
        <p:nvSpPr>
          <p:cNvPr id="13" name="Text 13"/>
          <p:cNvSpPr/>
          <p:nvPr/>
        </p:nvSpPr>
        <p:spPr>
          <a:xfrm>
            <a:off x="5958840" y="3931920"/>
            <a:ext cx="2636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8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concepts applied</a:t>
            </a:r>
            <a:endParaRPr lang="en-US" sz="1000" dirty="0"/>
          </a:p>
        </p:txBody>
      </p:sp>
      <p:sp>
        <p:nvSpPr>
          <p:cNvPr id="14" name="Shape 14"/>
          <p:cNvSpPr/>
          <p:nvPr/>
        </p:nvSpPr>
        <p:spPr>
          <a:xfrm>
            <a:off x="457200" y="5212080"/>
            <a:ext cx="8229600" cy="731520"/>
          </a:xfrm>
          <a:prstGeom prst="roundRect">
            <a:avLst>
              <a:gd name="adj" fmla="val 4688"/>
            </a:avLst>
          </a:prstGeom>
          <a:solidFill>
            <a:srgbClr val="F2F4F4"/>
          </a:solidFill>
          <a:ln w="6350">
            <a:solidFill>
              <a:srgbClr val="6E8C8A"/>
            </a:solidFill>
            <a:prstDash val="solid"/>
          </a:ln>
        </p:spPr>
      </p:sp>
      <p:sp>
        <p:nvSpPr>
          <p:cNvPr id="15" name="Text 15"/>
          <p:cNvSpPr/>
          <p:nvPr/>
        </p:nvSpPr>
        <p:spPr>
          <a:xfrm>
            <a:off x="640080" y="52120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now demonstrates a working, file-backed payroll system built entirely with core Python and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version-controlled on GitHub.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2026-08-16T11:20:33Z</dcterms:created>
  <dcterms:modified xsi:type="dcterms:W3CDTF">2026-08-16T11:20:33Z</dcterms:modified>
</cp:coreProperties>
</file>